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6" r:id="rId15"/>
    <p:sldId id="275" r:id="rId16"/>
    <p:sldId id="274" r:id="rId17"/>
    <p:sldId id="277" r:id="rId18"/>
    <p:sldId id="271" r:id="rId19"/>
    <p:sldId id="272" r:id="rId20"/>
    <p:sldId id="273"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1810" y="2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err="1"/>
              <a:t>QuickBite</a:t>
            </a:r>
            <a:r>
              <a:t> Express – Crisis Recovery Analysis</a:t>
            </a:r>
          </a:p>
        </p:txBody>
      </p:sp>
      <p:sp>
        <p:nvSpPr>
          <p:cNvPr id="3" name="Subtitle 2"/>
          <p:cNvSpPr>
            <a:spLocks noGrp="1"/>
          </p:cNvSpPr>
          <p:nvPr>
            <p:ph type="subTitle" idx="1"/>
          </p:nvPr>
        </p:nvSpPr>
        <p:spPr/>
        <p:txBody>
          <a:bodyPr/>
          <a:lstStyle/>
          <a:p>
            <a:r>
              <a:t>SQL | SSMS | Power BI</a:t>
            </a:r>
          </a:p>
          <a:p>
            <a:r>
              <a:t>Codebasics Resume Challenge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rPr dirty="0"/>
              <a:t>Company Overview</a:t>
            </a:r>
          </a:p>
          <a:p>
            <a:r>
              <a:rPr dirty="0"/>
              <a:t>Problem Statement</a:t>
            </a:r>
          </a:p>
          <a:p>
            <a:r>
              <a:rPr dirty="0"/>
              <a:t>Objectives</a:t>
            </a:r>
          </a:p>
          <a:p>
            <a:r>
              <a:rPr dirty="0"/>
              <a:t>Data Overview</a:t>
            </a:r>
          </a:p>
          <a:p>
            <a:r>
              <a:rPr dirty="0"/>
              <a:t>Analytical Approach</a:t>
            </a:r>
          </a:p>
          <a:p>
            <a:r>
              <a:rPr dirty="0"/>
              <a:t>Primary Insights (Q1–Q10)</a:t>
            </a:r>
          </a:p>
          <a:p>
            <a:r>
              <a:rPr dirty="0"/>
              <a:t>Key Takeaways &amp; Recommendations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Company Overview</a:t>
            </a:r>
          </a:p>
        </p:txBody>
      </p:sp>
      <p:sp>
        <p:nvSpPr>
          <p:cNvPr id="3" name="Content Placeholder 2"/>
          <p:cNvSpPr>
            <a:spLocks noGrp="1"/>
          </p:cNvSpPr>
          <p:nvPr>
            <p:ph idx="1"/>
          </p:nvPr>
        </p:nvSpPr>
        <p:spPr/>
        <p:txBody>
          <a:bodyPr>
            <a:normAutofit fontScale="70000" lnSpcReduction="20000"/>
          </a:bodyPr>
          <a:lstStyle/>
          <a:p>
            <a:pPr marL="0" indent="0">
              <a:buNone/>
            </a:pPr>
            <a:r>
              <a:rPr lang="en-US" dirty="0" err="1"/>
              <a:t>QuickBite</a:t>
            </a:r>
            <a:r>
              <a:rPr lang="en-US" dirty="0"/>
              <a:t> Express is a Bengaluru-based food-tech startup, founded in 2020, that connects customers with nearby restaurants and cloud kitchens through a seamless digital platform.</a:t>
            </a:r>
          </a:p>
          <a:p>
            <a:r>
              <a:rPr lang="en-US" b="1" dirty="0"/>
              <a:t>🔹 Key Highlights:</a:t>
            </a:r>
          </a:p>
          <a:p>
            <a:pPr lvl="1"/>
            <a:r>
              <a:rPr lang="en-US" dirty="0"/>
              <a:t>📍 </a:t>
            </a:r>
            <a:r>
              <a:rPr lang="en-US" b="1" dirty="0"/>
              <a:t>Headquarters:</a:t>
            </a:r>
            <a:r>
              <a:rPr lang="en-US" dirty="0"/>
              <a:t> Bengaluru, India </a:t>
            </a:r>
          </a:p>
          <a:p>
            <a:pPr lvl="1"/>
            <a:r>
              <a:rPr lang="en-US" dirty="0"/>
              <a:t>📅 </a:t>
            </a:r>
            <a:r>
              <a:rPr lang="en-US" b="1" dirty="0"/>
              <a:t>Founded:</a:t>
            </a:r>
            <a:r>
              <a:rPr lang="en-US" dirty="0"/>
              <a:t> 2020 </a:t>
            </a:r>
          </a:p>
          <a:p>
            <a:pPr lvl="1"/>
            <a:r>
              <a:rPr lang="en-US" dirty="0"/>
              <a:t>🍽️ </a:t>
            </a:r>
            <a:r>
              <a:rPr lang="en-US" b="1" dirty="0"/>
              <a:t>Business Model:</a:t>
            </a:r>
            <a:r>
              <a:rPr lang="en-US" dirty="0"/>
              <a:t> Online Food Delivery Platform </a:t>
            </a:r>
          </a:p>
          <a:p>
            <a:pPr lvl="1"/>
            <a:r>
              <a:rPr lang="en-US" dirty="0"/>
              <a:t>🤝 </a:t>
            </a:r>
            <a:r>
              <a:rPr lang="en-US" b="1" dirty="0"/>
              <a:t>Partners:</a:t>
            </a:r>
            <a:r>
              <a:rPr lang="en-US" dirty="0"/>
              <a:t> Restaurants &amp; Cloud Kitchens </a:t>
            </a:r>
          </a:p>
          <a:p>
            <a:pPr lvl="1"/>
            <a:r>
              <a:rPr lang="en-US" dirty="0"/>
              <a:t>🚚 </a:t>
            </a:r>
            <a:r>
              <a:rPr lang="en-US" b="1" dirty="0"/>
              <a:t>Core Service:</a:t>
            </a:r>
            <a:r>
              <a:rPr lang="en-US" dirty="0"/>
              <a:t> Fast and reliable food delivery </a:t>
            </a:r>
          </a:p>
          <a:p>
            <a:r>
              <a:rPr lang="en-US" b="1" dirty="0"/>
              <a:t>🔹 Value Proposition:</a:t>
            </a:r>
          </a:p>
          <a:p>
            <a:pPr lvl="1"/>
            <a:r>
              <a:rPr lang="en-US" dirty="0"/>
              <a:t>Wide variety of cuisines and restaurants </a:t>
            </a:r>
          </a:p>
          <a:p>
            <a:pPr lvl="1"/>
            <a:r>
              <a:rPr lang="en-US" dirty="0"/>
              <a:t>Quick and efficient delivery service </a:t>
            </a:r>
          </a:p>
          <a:p>
            <a:pPr lvl="1"/>
            <a:r>
              <a:rPr lang="en-US" dirty="0"/>
              <a:t>User-friendly ordering experience </a:t>
            </a:r>
          </a:p>
          <a:p>
            <a:pPr lvl="1"/>
            <a:r>
              <a:rPr lang="en-US" dirty="0"/>
              <a:t>Strong focus on customer satisfaction</a:t>
            </a:r>
          </a:p>
          <a:p>
            <a:pPr marL="0" indent="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Problem Statement</a:t>
            </a:r>
          </a:p>
        </p:txBody>
      </p:sp>
      <p:sp>
        <p:nvSpPr>
          <p:cNvPr id="3" name="Content Placeholder 2"/>
          <p:cNvSpPr>
            <a:spLocks noGrp="1"/>
          </p:cNvSpPr>
          <p:nvPr>
            <p:ph idx="1"/>
          </p:nvPr>
        </p:nvSpPr>
        <p:spPr/>
        <p:txBody>
          <a:bodyPr>
            <a:normAutofit fontScale="70000" lnSpcReduction="20000"/>
          </a:bodyPr>
          <a:lstStyle/>
          <a:p>
            <a:pPr marL="0" indent="0">
              <a:buNone/>
            </a:pPr>
            <a:r>
              <a:rPr lang="en-US" dirty="0"/>
              <a:t>The company is now focused on driving recovery through improved operations, customer engagement, and strategic partnerships. However, to ensure an effective turnaround, it is critical to deeply analyze customer behavior, delivery performance, and operational gaps across different phases—pre-crisis, crisis, and recovery.</a:t>
            </a:r>
          </a:p>
          <a:p>
            <a:pPr marL="0" indent="0">
              <a:buNone/>
            </a:pPr>
            <a:endParaRPr lang="en-US" dirty="0"/>
          </a:p>
          <a:p>
            <a:pPr marL="0" indent="0">
              <a:buNone/>
            </a:pPr>
            <a:r>
              <a:rPr lang="en-US" dirty="0"/>
              <a:t>This project aims to leverage data-driven insights to:</a:t>
            </a:r>
          </a:p>
          <a:p>
            <a:r>
              <a:rPr lang="en-US" dirty="0"/>
              <a:t>Identify recoverable customer segments </a:t>
            </a:r>
          </a:p>
          <a:p>
            <a:r>
              <a:rPr lang="en-US" dirty="0"/>
              <a:t>Understand shifts in order and cancellation patterns </a:t>
            </a:r>
          </a:p>
          <a:p>
            <a:r>
              <a:rPr lang="en-US" dirty="0"/>
              <a:t>Evaluate delivery efficiency and service reliability </a:t>
            </a:r>
          </a:p>
          <a:p>
            <a:r>
              <a:rPr lang="en-US" dirty="0"/>
              <a:t>Assess restaurant partner performance </a:t>
            </a:r>
          </a:p>
          <a:p>
            <a:r>
              <a:rPr lang="en-US" dirty="0"/>
              <a:t>Recommend targeted strategies to rebuild trust, improve retention, and drive sustainable growth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lstStyle/>
          <a:p>
            <a:r>
              <a:t>Identify impacted customer &amp; restaurant segments</a:t>
            </a:r>
          </a:p>
          <a:p>
            <a:r>
              <a:t>Analyze delivery &amp; operational gaps</a:t>
            </a:r>
          </a:p>
          <a:p>
            <a:r>
              <a:t>Understand behavioral changes</a:t>
            </a:r>
          </a:p>
          <a:p>
            <a:r>
              <a:t>Provide actionable recovery strategies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Overview</a:t>
            </a:r>
          </a:p>
        </p:txBody>
      </p:sp>
      <p:sp>
        <p:nvSpPr>
          <p:cNvPr id="3" name="Content Placeholder 2"/>
          <p:cNvSpPr>
            <a:spLocks noGrp="1"/>
          </p:cNvSpPr>
          <p:nvPr>
            <p:ph idx="1"/>
          </p:nvPr>
        </p:nvSpPr>
        <p:spPr/>
        <p:txBody>
          <a:bodyPr/>
          <a:lstStyle/>
          <a:p>
            <a:r>
              <a:rPr dirty="0"/>
              <a:t>Tables: </a:t>
            </a:r>
            <a:r>
              <a:rPr lang="en-US" dirty="0" err="1"/>
              <a:t>dim_customer</a:t>
            </a:r>
            <a:r>
              <a:rPr lang="en-US" dirty="0"/>
              <a:t>, </a:t>
            </a:r>
            <a:r>
              <a:rPr lang="en-US" dirty="0" err="1"/>
              <a:t>dim_delivery_partner</a:t>
            </a:r>
            <a:r>
              <a:rPr lang="en-US" dirty="0"/>
              <a:t>, </a:t>
            </a:r>
            <a:r>
              <a:rPr lang="en-US" dirty="0" err="1"/>
              <a:t>dim_menu_item</a:t>
            </a:r>
            <a:r>
              <a:rPr dirty="0"/>
              <a:t>, </a:t>
            </a:r>
            <a:r>
              <a:rPr lang="en-US" dirty="0" err="1"/>
              <a:t>fact_order_items</a:t>
            </a:r>
            <a:r>
              <a:rPr lang="en-US" dirty="0"/>
              <a:t>, </a:t>
            </a:r>
            <a:r>
              <a:rPr lang="en-US" dirty="0" err="1"/>
              <a:t>fact_orders</a:t>
            </a:r>
            <a:r>
              <a:rPr dirty="0"/>
              <a:t>, </a:t>
            </a:r>
            <a:r>
              <a:rPr lang="en-US" dirty="0" err="1"/>
              <a:t>dim_restaurant</a:t>
            </a:r>
            <a:r>
              <a:rPr dirty="0"/>
              <a:t>, </a:t>
            </a:r>
            <a:r>
              <a:rPr lang="en-US" dirty="0" err="1"/>
              <a:t>fact_ratings</a:t>
            </a:r>
            <a:r>
              <a:rPr lang="en-US" dirty="0"/>
              <a:t>, </a:t>
            </a:r>
            <a:r>
              <a:rPr lang="en-US" dirty="0" err="1"/>
              <a:t>fact_delivery_performance</a:t>
            </a:r>
            <a:endParaRPr dirty="0"/>
          </a:p>
          <a:p>
            <a:r>
              <a:rPr dirty="0"/>
              <a:t>Timeframe: Jan–Sep 2025</a:t>
            </a:r>
          </a:p>
          <a:p>
            <a:r>
              <a:rPr dirty="0"/>
              <a:t>Phases: Pre-crisis vs Crisis</a:t>
            </a:r>
          </a:p>
          <a:p>
            <a:r>
              <a:rPr dirty="0"/>
              <a:t>Tools: SQL, SSMS, Power BI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Analytical Approach</a:t>
            </a:r>
          </a:p>
        </p:txBody>
      </p:sp>
      <p:sp>
        <p:nvSpPr>
          <p:cNvPr id="3" name="Content Placeholder 2"/>
          <p:cNvSpPr>
            <a:spLocks noGrp="1"/>
          </p:cNvSpPr>
          <p:nvPr>
            <p:ph idx="1"/>
          </p:nvPr>
        </p:nvSpPr>
        <p:spPr/>
        <p:txBody>
          <a:bodyPr/>
          <a:lstStyle/>
          <a:p>
            <a:r>
              <a:rPr lang="en-US" dirty="0"/>
              <a:t>Conducted data analysis using SQL (SSMS)</a:t>
            </a:r>
          </a:p>
          <a:p>
            <a:r>
              <a:rPr lang="it-IT" dirty="0"/>
              <a:t>Designed a Star Schema data model</a:t>
            </a:r>
          </a:p>
          <a:p>
            <a:r>
              <a:rPr lang="en-US" dirty="0"/>
              <a:t>Developed key KPIs using DAX</a:t>
            </a:r>
          </a:p>
          <a:p>
            <a:r>
              <a:rPr lang="en-US" dirty="0"/>
              <a:t>Performed Pre vs Crisis comparative analysis</a:t>
            </a:r>
          </a:p>
          <a:p>
            <a:r>
              <a:rPr lang="en-US" dirty="0"/>
              <a:t>Built interactive dashboards for actionable insights</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Primary Insights – Key Highlights</a:t>
            </a:r>
          </a:p>
        </p:txBody>
      </p:sp>
      <p:sp>
        <p:nvSpPr>
          <p:cNvPr id="3" name="Content Placeholder 2"/>
          <p:cNvSpPr>
            <a:spLocks noGrp="1"/>
          </p:cNvSpPr>
          <p:nvPr>
            <p:ph idx="1"/>
          </p:nvPr>
        </p:nvSpPr>
        <p:spPr/>
        <p:txBody>
          <a:bodyPr>
            <a:normAutofit fontScale="85000" lnSpcReduction="20000"/>
          </a:bodyPr>
          <a:lstStyle/>
          <a:p>
            <a:r>
              <a:rPr lang="en-US" dirty="0"/>
              <a:t>Orders declined by </a:t>
            </a:r>
            <a:r>
              <a:rPr lang="en-US" b="1" dirty="0"/>
              <a:t>~71% (1.07L → 31K)</a:t>
            </a:r>
            <a:r>
              <a:rPr lang="en-US" dirty="0"/>
              <a:t>, indicating a </a:t>
            </a:r>
            <a:r>
              <a:rPr lang="en-US" b="1" dirty="0"/>
              <a:t>severe demand collapse</a:t>
            </a:r>
          </a:p>
          <a:p>
            <a:r>
              <a:rPr lang="en-US" dirty="0"/>
              <a:t>Revenue dropped by </a:t>
            </a:r>
            <a:r>
              <a:rPr lang="en-US" b="1" dirty="0"/>
              <a:t>~71% (₹3.76 Cr → ₹1.09 Cr)</a:t>
            </a:r>
            <a:r>
              <a:rPr lang="en-US" dirty="0"/>
              <a:t>, driven by reduced order volume</a:t>
            </a:r>
          </a:p>
          <a:p>
            <a:r>
              <a:rPr lang="en-US" dirty="0"/>
              <a:t>Cancellation rates </a:t>
            </a:r>
            <a:r>
              <a:rPr lang="en-US" b="1" dirty="0"/>
              <a:t>doubled (~3.3% → ~6.7%)</a:t>
            </a:r>
            <a:r>
              <a:rPr lang="en-US" dirty="0"/>
              <a:t>, reflecting operational inefficiencies</a:t>
            </a:r>
          </a:p>
          <a:p>
            <a:r>
              <a:rPr lang="en-US" dirty="0"/>
              <a:t>Delivery performance deteriorated significantly:</a:t>
            </a:r>
          </a:p>
          <a:p>
            <a:pPr lvl="1"/>
            <a:r>
              <a:rPr lang="en-US" b="1" dirty="0"/>
              <a:t>Delivery time ↑ +52% (39 → 60 mins)</a:t>
            </a:r>
            <a:r>
              <a:rPr lang="en-US" dirty="0"/>
              <a:t> </a:t>
            </a:r>
          </a:p>
          <a:p>
            <a:pPr lvl="1"/>
            <a:r>
              <a:rPr lang="en-US" b="1" dirty="0"/>
              <a:t>Delays ↑ ~9x (2 → 17.6 mins)</a:t>
            </a:r>
            <a:endParaRPr lang="en-US" dirty="0"/>
          </a:p>
          <a:p>
            <a:r>
              <a:rPr lang="en-US" dirty="0"/>
              <a:t>Customer ratings fell sharply:</a:t>
            </a:r>
          </a:p>
          <a:p>
            <a:pPr lvl="1"/>
            <a:r>
              <a:rPr lang="en-US" b="1" dirty="0"/>
              <a:t>4.5 → 2.6 in June (−1.86 drop)</a:t>
            </a:r>
            <a:r>
              <a:rPr lang="en-US" dirty="0"/>
              <a:t> </a:t>
            </a:r>
          </a:p>
          <a:p>
            <a:pPr lvl="1"/>
            <a:r>
              <a:rPr lang="en-US" dirty="0"/>
              <a:t>Remained low throughout the crisis period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060" y="329184"/>
            <a:ext cx="5170932" cy="1783080"/>
          </a:xfrm>
        </p:spPr>
        <p:txBody>
          <a:bodyPr vert="horz" lIns="91440" tIns="45720" rIns="91440" bIns="45720" rtlCol="0" anchor="b">
            <a:normAutofit/>
          </a:bodyPr>
          <a:lstStyle/>
          <a:p>
            <a:pPr algn="l" defTabSz="914400">
              <a:lnSpc>
                <a:spcPct val="90000"/>
              </a:lnSpc>
            </a:pPr>
            <a:r>
              <a:rPr lang="en-US" sz="2900"/>
              <a:t>Compare total orders across pre-crisis (Jan–May 2025) vs crisis (Jun–Sep 2025). How severe is the decline?</a:t>
            </a:r>
          </a:p>
        </p:txBody>
      </p:sp>
      <p:sp>
        <p:nvSpPr>
          <p:cNvPr id="1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214" y="2395728"/>
            <a:ext cx="3182691" cy="18288"/>
          </a:xfrm>
          <a:custGeom>
            <a:avLst/>
            <a:gdLst>
              <a:gd name="csX0" fmla="*/ 0 w 3182691"/>
              <a:gd name="csY0" fmla="*/ 0 h 18288"/>
              <a:gd name="csX1" fmla="*/ 636538 w 3182691"/>
              <a:gd name="csY1" fmla="*/ 0 h 18288"/>
              <a:gd name="csX2" fmla="*/ 1273076 w 3182691"/>
              <a:gd name="csY2" fmla="*/ 0 h 18288"/>
              <a:gd name="csX3" fmla="*/ 1909615 w 3182691"/>
              <a:gd name="csY3" fmla="*/ 0 h 18288"/>
              <a:gd name="csX4" fmla="*/ 2482499 w 3182691"/>
              <a:gd name="csY4" fmla="*/ 0 h 18288"/>
              <a:gd name="csX5" fmla="*/ 3182691 w 3182691"/>
              <a:gd name="csY5" fmla="*/ 0 h 18288"/>
              <a:gd name="csX6" fmla="*/ 3182691 w 3182691"/>
              <a:gd name="csY6" fmla="*/ 18288 h 18288"/>
              <a:gd name="csX7" fmla="*/ 2609807 w 3182691"/>
              <a:gd name="csY7" fmla="*/ 18288 h 18288"/>
              <a:gd name="csX8" fmla="*/ 2068749 w 3182691"/>
              <a:gd name="csY8" fmla="*/ 18288 h 18288"/>
              <a:gd name="csX9" fmla="*/ 1432211 w 3182691"/>
              <a:gd name="csY9" fmla="*/ 18288 h 18288"/>
              <a:gd name="csX10" fmla="*/ 859327 w 3182691"/>
              <a:gd name="csY10" fmla="*/ 18288 h 18288"/>
              <a:gd name="csX11" fmla="*/ 0 w 3182691"/>
              <a:gd name="csY11" fmla="*/ 18288 h 18288"/>
              <a:gd name="csX12" fmla="*/ 0 w 3182691"/>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82691" h="18288" fill="none" extrusionOk="0">
                <a:moveTo>
                  <a:pt x="0" y="0"/>
                </a:moveTo>
                <a:cubicBezTo>
                  <a:pt x="253588" y="25878"/>
                  <a:pt x="409323" y="-5359"/>
                  <a:pt x="636538" y="0"/>
                </a:cubicBezTo>
                <a:cubicBezTo>
                  <a:pt x="863753" y="5359"/>
                  <a:pt x="1013406" y="3458"/>
                  <a:pt x="1273076" y="0"/>
                </a:cubicBezTo>
                <a:cubicBezTo>
                  <a:pt x="1532746" y="-3458"/>
                  <a:pt x="1697408" y="-16840"/>
                  <a:pt x="1909615" y="0"/>
                </a:cubicBezTo>
                <a:cubicBezTo>
                  <a:pt x="2121822" y="16840"/>
                  <a:pt x="2213494" y="-18555"/>
                  <a:pt x="2482499" y="0"/>
                </a:cubicBezTo>
                <a:cubicBezTo>
                  <a:pt x="2751504" y="18555"/>
                  <a:pt x="3004132" y="-28750"/>
                  <a:pt x="3182691" y="0"/>
                </a:cubicBezTo>
                <a:cubicBezTo>
                  <a:pt x="3183133" y="4516"/>
                  <a:pt x="3181864" y="12266"/>
                  <a:pt x="3182691" y="18288"/>
                </a:cubicBezTo>
                <a:cubicBezTo>
                  <a:pt x="2947041" y="16687"/>
                  <a:pt x="2875741" y="22937"/>
                  <a:pt x="2609807" y="18288"/>
                </a:cubicBezTo>
                <a:cubicBezTo>
                  <a:pt x="2343873" y="13639"/>
                  <a:pt x="2331203" y="31729"/>
                  <a:pt x="2068749" y="18288"/>
                </a:cubicBezTo>
                <a:cubicBezTo>
                  <a:pt x="1806295" y="4847"/>
                  <a:pt x="1713773" y="47088"/>
                  <a:pt x="1432211" y="18288"/>
                </a:cubicBezTo>
                <a:cubicBezTo>
                  <a:pt x="1150649" y="-10512"/>
                  <a:pt x="982765" y="3747"/>
                  <a:pt x="859327" y="18288"/>
                </a:cubicBezTo>
                <a:cubicBezTo>
                  <a:pt x="735889" y="32829"/>
                  <a:pt x="254183" y="35231"/>
                  <a:pt x="0" y="18288"/>
                </a:cubicBezTo>
                <a:cubicBezTo>
                  <a:pt x="-306" y="11477"/>
                  <a:pt x="485" y="4355"/>
                  <a:pt x="0" y="0"/>
                </a:cubicBezTo>
                <a:close/>
              </a:path>
              <a:path w="3182691" h="18288" stroke="0" extrusionOk="0">
                <a:moveTo>
                  <a:pt x="0" y="0"/>
                </a:moveTo>
                <a:cubicBezTo>
                  <a:pt x="247695" y="-19360"/>
                  <a:pt x="392581" y="-28596"/>
                  <a:pt x="572884" y="0"/>
                </a:cubicBezTo>
                <a:cubicBezTo>
                  <a:pt x="753187" y="28596"/>
                  <a:pt x="922042" y="4121"/>
                  <a:pt x="1113942" y="0"/>
                </a:cubicBezTo>
                <a:cubicBezTo>
                  <a:pt x="1305842" y="-4121"/>
                  <a:pt x="1501806" y="28092"/>
                  <a:pt x="1686826" y="0"/>
                </a:cubicBezTo>
                <a:cubicBezTo>
                  <a:pt x="1871846" y="-28092"/>
                  <a:pt x="2170181" y="-20672"/>
                  <a:pt x="2323364" y="0"/>
                </a:cubicBezTo>
                <a:cubicBezTo>
                  <a:pt x="2476547" y="20672"/>
                  <a:pt x="2919163" y="6097"/>
                  <a:pt x="3182691" y="0"/>
                </a:cubicBezTo>
                <a:cubicBezTo>
                  <a:pt x="3183268" y="4624"/>
                  <a:pt x="3183510" y="11191"/>
                  <a:pt x="3182691" y="18288"/>
                </a:cubicBezTo>
                <a:cubicBezTo>
                  <a:pt x="3026064" y="-10849"/>
                  <a:pt x="2775005" y="23067"/>
                  <a:pt x="2546153" y="18288"/>
                </a:cubicBezTo>
                <a:cubicBezTo>
                  <a:pt x="2317301" y="13509"/>
                  <a:pt x="2164351" y="-9884"/>
                  <a:pt x="1845961" y="18288"/>
                </a:cubicBezTo>
                <a:cubicBezTo>
                  <a:pt x="1527571" y="46460"/>
                  <a:pt x="1455006" y="5824"/>
                  <a:pt x="1304903" y="18288"/>
                </a:cubicBezTo>
                <a:cubicBezTo>
                  <a:pt x="1154800" y="30752"/>
                  <a:pt x="942107" y="-12056"/>
                  <a:pt x="604711" y="18288"/>
                </a:cubicBezTo>
                <a:cubicBezTo>
                  <a:pt x="267315" y="48632"/>
                  <a:pt x="141927" y="-8395"/>
                  <a:pt x="0" y="18288"/>
                </a:cubicBezTo>
                <a:cubicBezTo>
                  <a:pt x="-171" y="12755"/>
                  <a:pt x="-690" y="793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1EDA7635-EF84-D8B1-11E5-1CCF1A68B8AB}"/>
              </a:ext>
            </a:extLst>
          </p:cNvPr>
          <p:cNvSpPr txBox="1">
            <a:spLocks/>
          </p:cNvSpPr>
          <p:nvPr/>
        </p:nvSpPr>
        <p:spPr>
          <a:xfrm>
            <a:off x="480060" y="2706624"/>
            <a:ext cx="5170932" cy="348386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indent="-228600" defTabSz="914400">
              <a:lnSpc>
                <a:spcPct val="90000"/>
              </a:lnSpc>
              <a:buFont typeface="Arial" panose="020B0604020202020204" pitchFamily="34" charset="0"/>
              <a:buChar char="•"/>
            </a:pPr>
            <a:r>
              <a:rPr lang="en-US" sz="1900"/>
              <a:t>Orders declined by ~</a:t>
            </a:r>
            <a:r>
              <a:rPr lang="en-US" sz="1900" b="1"/>
              <a:t>71% (1.07L → 31K)</a:t>
            </a:r>
            <a:r>
              <a:rPr lang="en-US" sz="1900"/>
              <a:t> during the crisis.</a:t>
            </a:r>
          </a:p>
          <a:p>
            <a:pPr indent="-228600" defTabSz="914400">
              <a:lnSpc>
                <a:spcPct val="90000"/>
              </a:lnSpc>
              <a:buFont typeface="Arial" panose="020B0604020202020204" pitchFamily="34" charset="0"/>
              <a:buChar char="•"/>
            </a:pPr>
            <a:r>
              <a:rPr lang="en-US" sz="1900"/>
              <a:t>Indicates a </a:t>
            </a:r>
            <a:r>
              <a:rPr lang="en-US" sz="1900" b="1"/>
              <a:t>severe collapse in demand driven by trust loss and delivery failures</a:t>
            </a:r>
            <a:r>
              <a:rPr lang="en-US" sz="1900"/>
              <a:t> </a:t>
            </a:r>
          </a:p>
        </p:txBody>
      </p:sp>
      <p:pic>
        <p:nvPicPr>
          <p:cNvPr id="5" name="Content Placeholder 4">
            <a:extLst>
              <a:ext uri="{FF2B5EF4-FFF2-40B4-BE49-F238E27FC236}">
                <a16:creationId xmlns:a16="http://schemas.microsoft.com/office/drawing/2014/main" id="{5B0405AE-5E42-E503-C284-F656BFAE91CF}"/>
              </a:ext>
            </a:extLst>
          </p:cNvPr>
          <p:cNvPicPr>
            <a:picLocks noGrp="1" noChangeAspect="1"/>
          </p:cNvPicPr>
          <p:nvPr>
            <p:ph idx="1"/>
          </p:nvPr>
        </p:nvPicPr>
        <p:blipFill>
          <a:blip r:embed="rId2"/>
          <a:stretch>
            <a:fillRect/>
          </a:stretch>
        </p:blipFill>
        <p:spPr>
          <a:xfrm>
            <a:off x="5897880" y="921636"/>
            <a:ext cx="3010662" cy="2245063"/>
          </a:xfrm>
          <a:prstGeom prst="rect">
            <a:avLst/>
          </a:prstGeom>
        </p:spPr>
      </p:pic>
      <p:pic>
        <p:nvPicPr>
          <p:cNvPr id="12" name="Picture 11">
            <a:extLst>
              <a:ext uri="{FF2B5EF4-FFF2-40B4-BE49-F238E27FC236}">
                <a16:creationId xmlns:a16="http://schemas.microsoft.com/office/drawing/2014/main" id="{22EF0060-1971-9978-06A4-29B4493587EC}"/>
              </a:ext>
            </a:extLst>
          </p:cNvPr>
          <p:cNvPicPr>
            <a:picLocks noChangeAspect="1"/>
          </p:cNvPicPr>
          <p:nvPr/>
        </p:nvPicPr>
        <p:blipFill>
          <a:blip r:embed="rId3"/>
          <a:stretch>
            <a:fillRect/>
          </a:stretch>
        </p:blipFill>
        <p:spPr>
          <a:xfrm>
            <a:off x="569214" y="4200917"/>
            <a:ext cx="8325612" cy="210191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80060" y="329184"/>
            <a:ext cx="5170932" cy="1783080"/>
          </a:xfrm>
        </p:spPr>
        <p:txBody>
          <a:bodyPr anchor="b">
            <a:normAutofit/>
          </a:bodyPr>
          <a:lstStyle/>
          <a:p>
            <a:pPr>
              <a:lnSpc>
                <a:spcPct val="90000"/>
              </a:lnSpc>
            </a:pPr>
            <a:r>
              <a:rPr lang="en-US" sz="2600" dirty="0"/>
              <a:t>Which top 5 city groups experienced the highest percentage decline in orders during the crisis period compared to the pre-crisis period?</a:t>
            </a:r>
          </a:p>
        </p:txBody>
      </p:sp>
      <p:sp>
        <p:nvSpPr>
          <p:cNvPr id="16"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214" y="2395728"/>
            <a:ext cx="3182691" cy="18288"/>
          </a:xfrm>
          <a:custGeom>
            <a:avLst/>
            <a:gdLst>
              <a:gd name="csX0" fmla="*/ 0 w 3182691"/>
              <a:gd name="csY0" fmla="*/ 0 h 18288"/>
              <a:gd name="csX1" fmla="*/ 636538 w 3182691"/>
              <a:gd name="csY1" fmla="*/ 0 h 18288"/>
              <a:gd name="csX2" fmla="*/ 1273076 w 3182691"/>
              <a:gd name="csY2" fmla="*/ 0 h 18288"/>
              <a:gd name="csX3" fmla="*/ 1909615 w 3182691"/>
              <a:gd name="csY3" fmla="*/ 0 h 18288"/>
              <a:gd name="csX4" fmla="*/ 2482499 w 3182691"/>
              <a:gd name="csY4" fmla="*/ 0 h 18288"/>
              <a:gd name="csX5" fmla="*/ 3182691 w 3182691"/>
              <a:gd name="csY5" fmla="*/ 0 h 18288"/>
              <a:gd name="csX6" fmla="*/ 3182691 w 3182691"/>
              <a:gd name="csY6" fmla="*/ 18288 h 18288"/>
              <a:gd name="csX7" fmla="*/ 2609807 w 3182691"/>
              <a:gd name="csY7" fmla="*/ 18288 h 18288"/>
              <a:gd name="csX8" fmla="*/ 2068749 w 3182691"/>
              <a:gd name="csY8" fmla="*/ 18288 h 18288"/>
              <a:gd name="csX9" fmla="*/ 1432211 w 3182691"/>
              <a:gd name="csY9" fmla="*/ 18288 h 18288"/>
              <a:gd name="csX10" fmla="*/ 859327 w 3182691"/>
              <a:gd name="csY10" fmla="*/ 18288 h 18288"/>
              <a:gd name="csX11" fmla="*/ 0 w 3182691"/>
              <a:gd name="csY11" fmla="*/ 18288 h 18288"/>
              <a:gd name="csX12" fmla="*/ 0 w 3182691"/>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82691" h="18288" fill="none" extrusionOk="0">
                <a:moveTo>
                  <a:pt x="0" y="0"/>
                </a:moveTo>
                <a:cubicBezTo>
                  <a:pt x="253588" y="25878"/>
                  <a:pt x="409323" y="-5359"/>
                  <a:pt x="636538" y="0"/>
                </a:cubicBezTo>
                <a:cubicBezTo>
                  <a:pt x="863753" y="5359"/>
                  <a:pt x="1013406" y="3458"/>
                  <a:pt x="1273076" y="0"/>
                </a:cubicBezTo>
                <a:cubicBezTo>
                  <a:pt x="1532746" y="-3458"/>
                  <a:pt x="1697408" y="-16840"/>
                  <a:pt x="1909615" y="0"/>
                </a:cubicBezTo>
                <a:cubicBezTo>
                  <a:pt x="2121822" y="16840"/>
                  <a:pt x="2213494" y="-18555"/>
                  <a:pt x="2482499" y="0"/>
                </a:cubicBezTo>
                <a:cubicBezTo>
                  <a:pt x="2751504" y="18555"/>
                  <a:pt x="3004132" y="-28750"/>
                  <a:pt x="3182691" y="0"/>
                </a:cubicBezTo>
                <a:cubicBezTo>
                  <a:pt x="3183133" y="4516"/>
                  <a:pt x="3181864" y="12266"/>
                  <a:pt x="3182691" y="18288"/>
                </a:cubicBezTo>
                <a:cubicBezTo>
                  <a:pt x="2947041" y="16687"/>
                  <a:pt x="2875741" y="22937"/>
                  <a:pt x="2609807" y="18288"/>
                </a:cubicBezTo>
                <a:cubicBezTo>
                  <a:pt x="2343873" y="13639"/>
                  <a:pt x="2331203" y="31729"/>
                  <a:pt x="2068749" y="18288"/>
                </a:cubicBezTo>
                <a:cubicBezTo>
                  <a:pt x="1806295" y="4847"/>
                  <a:pt x="1713773" y="47088"/>
                  <a:pt x="1432211" y="18288"/>
                </a:cubicBezTo>
                <a:cubicBezTo>
                  <a:pt x="1150649" y="-10512"/>
                  <a:pt x="982765" y="3747"/>
                  <a:pt x="859327" y="18288"/>
                </a:cubicBezTo>
                <a:cubicBezTo>
                  <a:pt x="735889" y="32829"/>
                  <a:pt x="254183" y="35231"/>
                  <a:pt x="0" y="18288"/>
                </a:cubicBezTo>
                <a:cubicBezTo>
                  <a:pt x="-306" y="11477"/>
                  <a:pt x="485" y="4355"/>
                  <a:pt x="0" y="0"/>
                </a:cubicBezTo>
                <a:close/>
              </a:path>
              <a:path w="3182691" h="18288" stroke="0" extrusionOk="0">
                <a:moveTo>
                  <a:pt x="0" y="0"/>
                </a:moveTo>
                <a:cubicBezTo>
                  <a:pt x="247695" y="-19360"/>
                  <a:pt x="392581" y="-28596"/>
                  <a:pt x="572884" y="0"/>
                </a:cubicBezTo>
                <a:cubicBezTo>
                  <a:pt x="753187" y="28596"/>
                  <a:pt x="922042" y="4121"/>
                  <a:pt x="1113942" y="0"/>
                </a:cubicBezTo>
                <a:cubicBezTo>
                  <a:pt x="1305842" y="-4121"/>
                  <a:pt x="1501806" y="28092"/>
                  <a:pt x="1686826" y="0"/>
                </a:cubicBezTo>
                <a:cubicBezTo>
                  <a:pt x="1871846" y="-28092"/>
                  <a:pt x="2170181" y="-20672"/>
                  <a:pt x="2323364" y="0"/>
                </a:cubicBezTo>
                <a:cubicBezTo>
                  <a:pt x="2476547" y="20672"/>
                  <a:pt x="2919163" y="6097"/>
                  <a:pt x="3182691" y="0"/>
                </a:cubicBezTo>
                <a:cubicBezTo>
                  <a:pt x="3183268" y="4624"/>
                  <a:pt x="3183510" y="11191"/>
                  <a:pt x="3182691" y="18288"/>
                </a:cubicBezTo>
                <a:cubicBezTo>
                  <a:pt x="3026064" y="-10849"/>
                  <a:pt x="2775005" y="23067"/>
                  <a:pt x="2546153" y="18288"/>
                </a:cubicBezTo>
                <a:cubicBezTo>
                  <a:pt x="2317301" y="13509"/>
                  <a:pt x="2164351" y="-9884"/>
                  <a:pt x="1845961" y="18288"/>
                </a:cubicBezTo>
                <a:cubicBezTo>
                  <a:pt x="1527571" y="46460"/>
                  <a:pt x="1455006" y="5824"/>
                  <a:pt x="1304903" y="18288"/>
                </a:cubicBezTo>
                <a:cubicBezTo>
                  <a:pt x="1154800" y="30752"/>
                  <a:pt x="942107" y="-12056"/>
                  <a:pt x="604711" y="18288"/>
                </a:cubicBezTo>
                <a:cubicBezTo>
                  <a:pt x="267315" y="48632"/>
                  <a:pt x="141927" y="-8395"/>
                  <a:pt x="0" y="18288"/>
                </a:cubicBezTo>
                <a:cubicBezTo>
                  <a:pt x="-171" y="12755"/>
                  <a:pt x="-690" y="793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480060" y="2706624"/>
            <a:ext cx="5170932" cy="3483864"/>
          </a:xfrm>
        </p:spPr>
        <p:txBody>
          <a:bodyPr>
            <a:normAutofit/>
          </a:bodyPr>
          <a:lstStyle/>
          <a:p>
            <a:r>
              <a:rPr lang="en-US" sz="1900" dirty="0"/>
              <a:t>Major metro cities experienced a </a:t>
            </a:r>
            <a:r>
              <a:rPr lang="en-US" sz="1900" b="1" dirty="0"/>
              <a:t>~71% decline in orders</a:t>
            </a:r>
            <a:r>
              <a:rPr lang="en-US" sz="1900" dirty="0"/>
              <a:t>, with </a:t>
            </a:r>
            <a:r>
              <a:rPr lang="en-US" sz="1900" b="1" dirty="0"/>
              <a:t>Bengaluru and Mumbai leading the drop</a:t>
            </a:r>
          </a:p>
          <a:p>
            <a:r>
              <a:rPr lang="en-US" sz="1900" dirty="0"/>
              <a:t>The decline is </a:t>
            </a:r>
            <a:r>
              <a:rPr lang="en-US" sz="1900" b="1" dirty="0"/>
              <a:t>consistent across Tier-1 cities</a:t>
            </a:r>
            <a:r>
              <a:rPr lang="en-US" sz="1900" dirty="0"/>
              <a:t>, indicating a </a:t>
            </a:r>
            <a:r>
              <a:rPr lang="en-US" sz="1900" b="1" dirty="0"/>
              <a:t>platform-wide trust and demand collapse rather than a localized issue</a:t>
            </a:r>
          </a:p>
          <a:p>
            <a:r>
              <a:rPr lang="en-US" sz="1900" dirty="0"/>
              <a:t>This reflects a </a:t>
            </a:r>
            <a:r>
              <a:rPr lang="en-US" sz="1900" b="1" dirty="0"/>
              <a:t>systemic breakdown in customer trust and service reliability</a:t>
            </a:r>
            <a:r>
              <a:rPr lang="en-US" sz="1900" dirty="0"/>
              <a:t> during the crisis</a:t>
            </a:r>
          </a:p>
        </p:txBody>
      </p:sp>
      <p:pic>
        <p:nvPicPr>
          <p:cNvPr id="9" name="Picture 8">
            <a:extLst>
              <a:ext uri="{FF2B5EF4-FFF2-40B4-BE49-F238E27FC236}">
                <a16:creationId xmlns:a16="http://schemas.microsoft.com/office/drawing/2014/main" id="{A39EAC17-893D-AE2B-0738-737110648F6D}"/>
              </a:ext>
            </a:extLst>
          </p:cNvPr>
          <p:cNvPicPr>
            <a:picLocks noChangeAspect="1"/>
          </p:cNvPicPr>
          <p:nvPr/>
        </p:nvPicPr>
        <p:blipFill>
          <a:blip r:embed="rId2"/>
          <a:stretch>
            <a:fillRect/>
          </a:stretch>
        </p:blipFill>
        <p:spPr>
          <a:xfrm>
            <a:off x="5897880" y="341586"/>
            <a:ext cx="3010662" cy="3405162"/>
          </a:xfrm>
          <a:prstGeom prst="rect">
            <a:avLst/>
          </a:prstGeom>
        </p:spPr>
      </p:pic>
      <p:pic>
        <p:nvPicPr>
          <p:cNvPr id="5" name="Picture 4">
            <a:extLst>
              <a:ext uri="{FF2B5EF4-FFF2-40B4-BE49-F238E27FC236}">
                <a16:creationId xmlns:a16="http://schemas.microsoft.com/office/drawing/2014/main" id="{0AAAFCE7-30FD-39D8-C5F9-D21E5ED8FECB}"/>
              </a:ext>
            </a:extLst>
          </p:cNvPr>
          <p:cNvPicPr>
            <a:picLocks noChangeAspect="1"/>
          </p:cNvPicPr>
          <p:nvPr/>
        </p:nvPicPr>
        <p:blipFill>
          <a:blip r:embed="rId3"/>
          <a:stretch>
            <a:fillRect/>
          </a:stretch>
        </p:blipFill>
        <p:spPr>
          <a:xfrm>
            <a:off x="5897880" y="4734815"/>
            <a:ext cx="2996946" cy="86502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Rectangle 11">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812" y="365125"/>
            <a:ext cx="8375585"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785059" y="586822"/>
            <a:ext cx="2670189" cy="1645920"/>
          </a:xfrm>
        </p:spPr>
        <p:txBody>
          <a:bodyPr>
            <a:normAutofit/>
          </a:bodyPr>
          <a:lstStyle/>
          <a:p>
            <a:pPr>
              <a:lnSpc>
                <a:spcPct val="90000"/>
              </a:lnSpc>
            </a:pPr>
            <a:r>
              <a:rPr lang="en-US" sz="1500" dirty="0"/>
              <a:t>Among restaurants with at least 50 pre-crisis orders, which top 10 high-volume restaurants experienced the largest percentage decline in order counts during the crisis period?</a:t>
            </a:r>
          </a:p>
        </p:txBody>
      </p:sp>
      <p:sp>
        <p:nvSpPr>
          <p:cNvPr id="14" name="Rectangle 13">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06" y="1057739"/>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6" name="Rectangle 15">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99776" y="1402924"/>
            <a:ext cx="146304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3" name="Content Placeholder 2"/>
          <p:cNvSpPr>
            <a:spLocks noGrp="1"/>
          </p:cNvSpPr>
          <p:nvPr>
            <p:ph idx="1"/>
          </p:nvPr>
        </p:nvSpPr>
        <p:spPr>
          <a:xfrm>
            <a:off x="4013373" y="586822"/>
            <a:ext cx="4501977" cy="1645920"/>
          </a:xfrm>
        </p:spPr>
        <p:txBody>
          <a:bodyPr anchor="ctr">
            <a:normAutofit/>
          </a:bodyPr>
          <a:lstStyle/>
          <a:p>
            <a:r>
              <a:rPr lang="en-US" sz="1600" dirty="0"/>
              <a:t>The crisis led to </a:t>
            </a:r>
            <a:r>
              <a:rPr lang="en-US" sz="1600" b="1" dirty="0"/>
              <a:t>near-total demand collapse for several restaurants</a:t>
            </a:r>
            <a:r>
              <a:rPr lang="en-US" sz="1600" dirty="0"/>
              <a:t>, not just gradual decline</a:t>
            </a:r>
          </a:p>
          <a:p>
            <a:r>
              <a:rPr lang="en-US" sz="1600" dirty="0"/>
              <a:t>This reflects a </a:t>
            </a:r>
            <a:r>
              <a:rPr lang="en-US" sz="1600" b="1" dirty="0"/>
              <a:t>platform-level demand shock impacting partner sustainability</a:t>
            </a:r>
            <a:endParaRPr lang="en-US" sz="1600" dirty="0"/>
          </a:p>
        </p:txBody>
      </p:sp>
      <p:pic>
        <p:nvPicPr>
          <p:cNvPr id="5" name="Picture 4">
            <a:extLst>
              <a:ext uri="{FF2B5EF4-FFF2-40B4-BE49-F238E27FC236}">
                <a16:creationId xmlns:a16="http://schemas.microsoft.com/office/drawing/2014/main" id="{38281EAF-96DC-DBC0-2D3B-1CB184598FAE}"/>
              </a:ext>
            </a:extLst>
          </p:cNvPr>
          <p:cNvPicPr>
            <a:picLocks noChangeAspect="1"/>
          </p:cNvPicPr>
          <p:nvPr/>
        </p:nvPicPr>
        <p:blipFill>
          <a:blip r:embed="rId2"/>
          <a:stretch>
            <a:fillRect/>
          </a:stretch>
        </p:blipFill>
        <p:spPr>
          <a:xfrm>
            <a:off x="418338" y="3439753"/>
            <a:ext cx="8373618" cy="207246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73202" y="639520"/>
            <a:ext cx="2571750" cy="1719072"/>
          </a:xfrm>
        </p:spPr>
        <p:txBody>
          <a:bodyPr anchor="b">
            <a:normAutofit/>
          </a:bodyPr>
          <a:lstStyle/>
          <a:p>
            <a:pPr>
              <a:lnSpc>
                <a:spcPct val="90000"/>
              </a:lnSpc>
            </a:pPr>
            <a:r>
              <a:rPr lang="en-US" sz="1900" dirty="0"/>
              <a:t>Cancellation Analysis: What is the cancellation rate trend pre-crisis vs crisis, and which cities are most affected? </a:t>
            </a:r>
          </a:p>
        </p:txBody>
      </p:sp>
      <p:sp>
        <p:nvSpPr>
          <p:cNvPr id="19"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sX0" fmla="*/ 0 w 2441321"/>
              <a:gd name="csY0" fmla="*/ 0 h 18288"/>
              <a:gd name="csX1" fmla="*/ 585917 w 2441321"/>
              <a:gd name="csY1" fmla="*/ 0 h 18288"/>
              <a:gd name="csX2" fmla="*/ 1196247 w 2441321"/>
              <a:gd name="csY2" fmla="*/ 0 h 18288"/>
              <a:gd name="csX3" fmla="*/ 1806578 w 2441321"/>
              <a:gd name="csY3" fmla="*/ 0 h 18288"/>
              <a:gd name="csX4" fmla="*/ 2441321 w 2441321"/>
              <a:gd name="csY4" fmla="*/ 0 h 18288"/>
              <a:gd name="csX5" fmla="*/ 2441321 w 2441321"/>
              <a:gd name="csY5" fmla="*/ 18288 h 18288"/>
              <a:gd name="csX6" fmla="*/ 1830991 w 2441321"/>
              <a:gd name="csY6" fmla="*/ 18288 h 18288"/>
              <a:gd name="csX7" fmla="*/ 1269487 w 2441321"/>
              <a:gd name="csY7" fmla="*/ 18288 h 18288"/>
              <a:gd name="csX8" fmla="*/ 707983 w 2441321"/>
              <a:gd name="csY8" fmla="*/ 18288 h 18288"/>
              <a:gd name="csX9" fmla="*/ 0 w 2441321"/>
              <a:gd name="csY9" fmla="*/ 18288 h 18288"/>
              <a:gd name="csX10" fmla="*/ 0 w 2441321"/>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473202" y="2807208"/>
            <a:ext cx="2571750" cy="3410712"/>
          </a:xfrm>
        </p:spPr>
        <p:txBody>
          <a:bodyPr anchor="t">
            <a:normAutofit/>
          </a:bodyPr>
          <a:lstStyle/>
          <a:p>
            <a:pPr>
              <a:lnSpc>
                <a:spcPct val="90000"/>
              </a:lnSpc>
            </a:pPr>
            <a:r>
              <a:rPr lang="en-US" sz="1900" dirty="0"/>
              <a:t>The crisis led to a </a:t>
            </a:r>
            <a:r>
              <a:rPr lang="en-US" sz="1900" b="1" dirty="0"/>
              <a:t>2x increase in cancellations</a:t>
            </a:r>
            <a:r>
              <a:rPr lang="en-US" sz="1900" dirty="0"/>
              <a:t>, driven by </a:t>
            </a:r>
            <a:r>
              <a:rPr lang="en-US" sz="1900" b="1" dirty="0"/>
              <a:t>delivery delays and service unreliability</a:t>
            </a:r>
          </a:p>
          <a:p>
            <a:pPr>
              <a:lnSpc>
                <a:spcPct val="90000"/>
              </a:lnSpc>
            </a:pPr>
            <a:r>
              <a:rPr lang="en-US" sz="1900" dirty="0"/>
              <a:t>High-volume cities like </a:t>
            </a:r>
            <a:r>
              <a:rPr lang="en-US" sz="1900" b="1" dirty="0"/>
              <a:t>Bengaluru and Mumbai amplify business impact</a:t>
            </a:r>
            <a:r>
              <a:rPr lang="en-US" sz="1900" dirty="0"/>
              <a:t>, making them critical for recovery</a:t>
            </a:r>
          </a:p>
        </p:txBody>
      </p:sp>
      <p:pic>
        <p:nvPicPr>
          <p:cNvPr id="5" name="Picture 4">
            <a:extLst>
              <a:ext uri="{FF2B5EF4-FFF2-40B4-BE49-F238E27FC236}">
                <a16:creationId xmlns:a16="http://schemas.microsoft.com/office/drawing/2014/main" id="{6C49835B-7808-1A30-1307-AA2688B57922}"/>
              </a:ext>
            </a:extLst>
          </p:cNvPr>
          <p:cNvPicPr>
            <a:picLocks noChangeAspect="1"/>
          </p:cNvPicPr>
          <p:nvPr/>
        </p:nvPicPr>
        <p:blipFill>
          <a:blip r:embed="rId2"/>
          <a:stretch>
            <a:fillRect/>
          </a:stretch>
        </p:blipFill>
        <p:spPr>
          <a:xfrm>
            <a:off x="3490722" y="1587307"/>
            <a:ext cx="5177790" cy="368338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Delivery SLA: Measure average delivery time across phases. Did SLA compliance worsen significantly in the crisis period?</a:t>
            </a:r>
            <a:endParaRPr sz="2400" dirty="0"/>
          </a:p>
        </p:txBody>
      </p:sp>
      <p:sp>
        <p:nvSpPr>
          <p:cNvPr id="3" name="Content Placeholder 2"/>
          <p:cNvSpPr>
            <a:spLocks noGrp="1"/>
          </p:cNvSpPr>
          <p:nvPr>
            <p:ph idx="1"/>
          </p:nvPr>
        </p:nvSpPr>
        <p:spPr>
          <a:xfrm>
            <a:off x="457200" y="4299857"/>
            <a:ext cx="8229600" cy="1826306"/>
          </a:xfrm>
        </p:spPr>
        <p:txBody>
          <a:bodyPr>
            <a:normAutofit fontScale="92500" lnSpcReduction="20000"/>
          </a:bodyPr>
          <a:lstStyle/>
          <a:p>
            <a:r>
              <a:rPr lang="en-US" dirty="0"/>
              <a:t>Delivery performance </a:t>
            </a:r>
            <a:r>
              <a:rPr lang="en-US" b="1" dirty="0"/>
              <a:t>worsened drastically</a:t>
            </a:r>
            <a:r>
              <a:rPr lang="en-US" dirty="0"/>
              <a:t>, with delays increasing nearly </a:t>
            </a:r>
            <a:r>
              <a:rPr lang="en-US" b="1" dirty="0"/>
              <a:t>9x</a:t>
            </a:r>
          </a:p>
          <a:p>
            <a:r>
              <a:rPr lang="en-US" dirty="0"/>
              <a:t>Indicates </a:t>
            </a:r>
            <a:r>
              <a:rPr lang="en-US" b="1" dirty="0"/>
              <a:t>operational failure in last-mile delivery</a:t>
            </a:r>
            <a:r>
              <a:rPr lang="en-US" dirty="0"/>
              <a:t>, not just higher demand or external factors</a:t>
            </a:r>
            <a:endParaRPr dirty="0"/>
          </a:p>
        </p:txBody>
      </p:sp>
      <p:pic>
        <p:nvPicPr>
          <p:cNvPr id="5" name="Picture 4">
            <a:extLst>
              <a:ext uri="{FF2B5EF4-FFF2-40B4-BE49-F238E27FC236}">
                <a16:creationId xmlns:a16="http://schemas.microsoft.com/office/drawing/2014/main" id="{F0B4C35C-0AEA-E50D-7BB8-CA284557D975}"/>
              </a:ext>
            </a:extLst>
          </p:cNvPr>
          <p:cNvPicPr>
            <a:picLocks noChangeAspect="1"/>
          </p:cNvPicPr>
          <p:nvPr/>
        </p:nvPicPr>
        <p:blipFill>
          <a:blip r:embed="rId2"/>
          <a:stretch>
            <a:fillRect/>
          </a:stretch>
        </p:blipFill>
        <p:spPr>
          <a:xfrm>
            <a:off x="457200" y="2205398"/>
            <a:ext cx="8305800" cy="122360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EF0C0-8FC8-002B-5069-EF9B292977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48F48-7AC1-105D-BEE0-540FCA6CAEE0}"/>
              </a:ext>
            </a:extLst>
          </p:cNvPr>
          <p:cNvSpPr>
            <a:spLocks noGrp="1"/>
          </p:cNvSpPr>
          <p:nvPr>
            <p:ph type="title"/>
          </p:nvPr>
        </p:nvSpPr>
        <p:spPr/>
        <p:txBody>
          <a:bodyPr>
            <a:normAutofit fontScale="90000"/>
          </a:bodyPr>
          <a:lstStyle/>
          <a:p>
            <a:r>
              <a:rPr lang="en-US" sz="2400" dirty="0"/>
              <a:t>Among customers who placed five or more orders before the crisis, determine how many stopped ordering during the crisis, and out of those, how many had an average rating above 4.5?</a:t>
            </a:r>
            <a:endParaRPr sz="2400" dirty="0"/>
          </a:p>
        </p:txBody>
      </p:sp>
      <p:sp>
        <p:nvSpPr>
          <p:cNvPr id="3" name="Content Placeholder 2">
            <a:extLst>
              <a:ext uri="{FF2B5EF4-FFF2-40B4-BE49-F238E27FC236}">
                <a16:creationId xmlns:a16="http://schemas.microsoft.com/office/drawing/2014/main" id="{065A8E76-E37F-1067-A5E9-2F5EC7123A96}"/>
              </a:ext>
            </a:extLst>
          </p:cNvPr>
          <p:cNvSpPr>
            <a:spLocks noGrp="1"/>
          </p:cNvSpPr>
          <p:nvPr>
            <p:ph idx="1"/>
          </p:nvPr>
        </p:nvSpPr>
        <p:spPr>
          <a:xfrm>
            <a:off x="457200" y="4299857"/>
            <a:ext cx="8229600" cy="1826306"/>
          </a:xfrm>
        </p:spPr>
        <p:txBody>
          <a:bodyPr>
            <a:normAutofit fontScale="77500" lnSpcReduction="20000"/>
          </a:bodyPr>
          <a:lstStyle/>
          <a:p>
            <a:r>
              <a:rPr lang="en-US" dirty="0"/>
              <a:t>The crisis caused </a:t>
            </a:r>
            <a:r>
              <a:rPr lang="en-US" b="1" dirty="0"/>
              <a:t>deep, trust-driven churn among high-value users</a:t>
            </a:r>
            <a:r>
              <a:rPr lang="en-US" dirty="0"/>
              <a:t>, which is the most damaging form of customer loss</a:t>
            </a:r>
          </a:p>
          <a:p>
            <a:r>
              <a:rPr lang="en-US" dirty="0"/>
              <a:t>Retaining these customers is critical for </a:t>
            </a:r>
            <a:r>
              <a:rPr lang="en-US" b="1" dirty="0"/>
              <a:t>long-term revenue recovery</a:t>
            </a:r>
            <a:endParaRPr dirty="0"/>
          </a:p>
        </p:txBody>
      </p:sp>
      <p:pic>
        <p:nvPicPr>
          <p:cNvPr id="8" name="Picture 7">
            <a:extLst>
              <a:ext uri="{FF2B5EF4-FFF2-40B4-BE49-F238E27FC236}">
                <a16:creationId xmlns:a16="http://schemas.microsoft.com/office/drawing/2014/main" id="{A0C41F02-6604-A7CD-659A-97A70DE704C7}"/>
              </a:ext>
            </a:extLst>
          </p:cNvPr>
          <p:cNvPicPr>
            <a:picLocks noChangeAspect="1"/>
          </p:cNvPicPr>
          <p:nvPr/>
        </p:nvPicPr>
        <p:blipFill>
          <a:blip r:embed="rId2"/>
          <a:stretch>
            <a:fillRect/>
          </a:stretch>
        </p:blipFill>
        <p:spPr>
          <a:xfrm>
            <a:off x="457199" y="2116702"/>
            <a:ext cx="8229601" cy="1142999"/>
          </a:xfrm>
          <a:prstGeom prst="rect">
            <a:avLst/>
          </a:prstGeom>
        </p:spPr>
      </p:pic>
    </p:spTree>
    <p:extLst>
      <p:ext uri="{BB962C8B-B14F-4D97-AF65-F5344CB8AC3E}">
        <p14:creationId xmlns:p14="http://schemas.microsoft.com/office/powerpoint/2010/main" val="2601512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6A876E-90CE-8FF3-D842-7CBFE02D3DE3}"/>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93DC7F9-34FF-664D-EAD5-98D45C69A1BE}"/>
              </a:ext>
            </a:extLst>
          </p:cNvPr>
          <p:cNvSpPr>
            <a:spLocks noGrp="1"/>
          </p:cNvSpPr>
          <p:nvPr>
            <p:ph type="title"/>
          </p:nvPr>
        </p:nvSpPr>
        <p:spPr>
          <a:xfrm>
            <a:off x="480060" y="329184"/>
            <a:ext cx="5170932" cy="1783080"/>
          </a:xfrm>
        </p:spPr>
        <p:txBody>
          <a:bodyPr anchor="b">
            <a:normAutofit/>
          </a:bodyPr>
          <a:lstStyle/>
          <a:p>
            <a:pPr>
              <a:lnSpc>
                <a:spcPct val="90000"/>
              </a:lnSpc>
            </a:pPr>
            <a:r>
              <a:rPr lang="en-US" sz="2900" dirty="0"/>
              <a:t>Revenue Impact: Estimate revenue loss from pre-crisis vs crisis (based on subtotal, discount, and delivery fee).</a:t>
            </a:r>
          </a:p>
        </p:txBody>
      </p:sp>
      <p:sp>
        <p:nvSpPr>
          <p:cNvPr id="15"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214" y="2395728"/>
            <a:ext cx="3182691" cy="18288"/>
          </a:xfrm>
          <a:custGeom>
            <a:avLst/>
            <a:gdLst>
              <a:gd name="csX0" fmla="*/ 0 w 3182691"/>
              <a:gd name="csY0" fmla="*/ 0 h 18288"/>
              <a:gd name="csX1" fmla="*/ 636538 w 3182691"/>
              <a:gd name="csY1" fmla="*/ 0 h 18288"/>
              <a:gd name="csX2" fmla="*/ 1273076 w 3182691"/>
              <a:gd name="csY2" fmla="*/ 0 h 18288"/>
              <a:gd name="csX3" fmla="*/ 1909615 w 3182691"/>
              <a:gd name="csY3" fmla="*/ 0 h 18288"/>
              <a:gd name="csX4" fmla="*/ 2482499 w 3182691"/>
              <a:gd name="csY4" fmla="*/ 0 h 18288"/>
              <a:gd name="csX5" fmla="*/ 3182691 w 3182691"/>
              <a:gd name="csY5" fmla="*/ 0 h 18288"/>
              <a:gd name="csX6" fmla="*/ 3182691 w 3182691"/>
              <a:gd name="csY6" fmla="*/ 18288 h 18288"/>
              <a:gd name="csX7" fmla="*/ 2609807 w 3182691"/>
              <a:gd name="csY7" fmla="*/ 18288 h 18288"/>
              <a:gd name="csX8" fmla="*/ 2068749 w 3182691"/>
              <a:gd name="csY8" fmla="*/ 18288 h 18288"/>
              <a:gd name="csX9" fmla="*/ 1432211 w 3182691"/>
              <a:gd name="csY9" fmla="*/ 18288 h 18288"/>
              <a:gd name="csX10" fmla="*/ 859327 w 3182691"/>
              <a:gd name="csY10" fmla="*/ 18288 h 18288"/>
              <a:gd name="csX11" fmla="*/ 0 w 3182691"/>
              <a:gd name="csY11" fmla="*/ 18288 h 18288"/>
              <a:gd name="csX12" fmla="*/ 0 w 3182691"/>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82691" h="18288" fill="none" extrusionOk="0">
                <a:moveTo>
                  <a:pt x="0" y="0"/>
                </a:moveTo>
                <a:cubicBezTo>
                  <a:pt x="253588" y="25878"/>
                  <a:pt x="409323" y="-5359"/>
                  <a:pt x="636538" y="0"/>
                </a:cubicBezTo>
                <a:cubicBezTo>
                  <a:pt x="863753" y="5359"/>
                  <a:pt x="1013406" y="3458"/>
                  <a:pt x="1273076" y="0"/>
                </a:cubicBezTo>
                <a:cubicBezTo>
                  <a:pt x="1532746" y="-3458"/>
                  <a:pt x="1697408" y="-16840"/>
                  <a:pt x="1909615" y="0"/>
                </a:cubicBezTo>
                <a:cubicBezTo>
                  <a:pt x="2121822" y="16840"/>
                  <a:pt x="2213494" y="-18555"/>
                  <a:pt x="2482499" y="0"/>
                </a:cubicBezTo>
                <a:cubicBezTo>
                  <a:pt x="2751504" y="18555"/>
                  <a:pt x="3004132" y="-28750"/>
                  <a:pt x="3182691" y="0"/>
                </a:cubicBezTo>
                <a:cubicBezTo>
                  <a:pt x="3183133" y="4516"/>
                  <a:pt x="3181864" y="12266"/>
                  <a:pt x="3182691" y="18288"/>
                </a:cubicBezTo>
                <a:cubicBezTo>
                  <a:pt x="2947041" y="16687"/>
                  <a:pt x="2875741" y="22937"/>
                  <a:pt x="2609807" y="18288"/>
                </a:cubicBezTo>
                <a:cubicBezTo>
                  <a:pt x="2343873" y="13639"/>
                  <a:pt x="2331203" y="31729"/>
                  <a:pt x="2068749" y="18288"/>
                </a:cubicBezTo>
                <a:cubicBezTo>
                  <a:pt x="1806295" y="4847"/>
                  <a:pt x="1713773" y="47088"/>
                  <a:pt x="1432211" y="18288"/>
                </a:cubicBezTo>
                <a:cubicBezTo>
                  <a:pt x="1150649" y="-10512"/>
                  <a:pt x="982765" y="3747"/>
                  <a:pt x="859327" y="18288"/>
                </a:cubicBezTo>
                <a:cubicBezTo>
                  <a:pt x="735889" y="32829"/>
                  <a:pt x="254183" y="35231"/>
                  <a:pt x="0" y="18288"/>
                </a:cubicBezTo>
                <a:cubicBezTo>
                  <a:pt x="-306" y="11477"/>
                  <a:pt x="485" y="4355"/>
                  <a:pt x="0" y="0"/>
                </a:cubicBezTo>
                <a:close/>
              </a:path>
              <a:path w="3182691" h="18288" stroke="0" extrusionOk="0">
                <a:moveTo>
                  <a:pt x="0" y="0"/>
                </a:moveTo>
                <a:cubicBezTo>
                  <a:pt x="247695" y="-19360"/>
                  <a:pt x="392581" y="-28596"/>
                  <a:pt x="572884" y="0"/>
                </a:cubicBezTo>
                <a:cubicBezTo>
                  <a:pt x="753187" y="28596"/>
                  <a:pt x="922042" y="4121"/>
                  <a:pt x="1113942" y="0"/>
                </a:cubicBezTo>
                <a:cubicBezTo>
                  <a:pt x="1305842" y="-4121"/>
                  <a:pt x="1501806" y="28092"/>
                  <a:pt x="1686826" y="0"/>
                </a:cubicBezTo>
                <a:cubicBezTo>
                  <a:pt x="1871846" y="-28092"/>
                  <a:pt x="2170181" y="-20672"/>
                  <a:pt x="2323364" y="0"/>
                </a:cubicBezTo>
                <a:cubicBezTo>
                  <a:pt x="2476547" y="20672"/>
                  <a:pt x="2919163" y="6097"/>
                  <a:pt x="3182691" y="0"/>
                </a:cubicBezTo>
                <a:cubicBezTo>
                  <a:pt x="3183268" y="4624"/>
                  <a:pt x="3183510" y="11191"/>
                  <a:pt x="3182691" y="18288"/>
                </a:cubicBezTo>
                <a:cubicBezTo>
                  <a:pt x="3026064" y="-10849"/>
                  <a:pt x="2775005" y="23067"/>
                  <a:pt x="2546153" y="18288"/>
                </a:cubicBezTo>
                <a:cubicBezTo>
                  <a:pt x="2317301" y="13509"/>
                  <a:pt x="2164351" y="-9884"/>
                  <a:pt x="1845961" y="18288"/>
                </a:cubicBezTo>
                <a:cubicBezTo>
                  <a:pt x="1527571" y="46460"/>
                  <a:pt x="1455006" y="5824"/>
                  <a:pt x="1304903" y="18288"/>
                </a:cubicBezTo>
                <a:cubicBezTo>
                  <a:pt x="1154800" y="30752"/>
                  <a:pt x="942107" y="-12056"/>
                  <a:pt x="604711" y="18288"/>
                </a:cubicBezTo>
                <a:cubicBezTo>
                  <a:pt x="267315" y="48632"/>
                  <a:pt x="141927" y="-8395"/>
                  <a:pt x="0" y="18288"/>
                </a:cubicBezTo>
                <a:cubicBezTo>
                  <a:pt x="-171" y="12755"/>
                  <a:pt x="-690" y="793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ED26E58-77F7-0FB4-8342-B70E60E57967}"/>
              </a:ext>
            </a:extLst>
          </p:cNvPr>
          <p:cNvSpPr>
            <a:spLocks noGrp="1"/>
          </p:cNvSpPr>
          <p:nvPr>
            <p:ph idx="1"/>
          </p:nvPr>
        </p:nvSpPr>
        <p:spPr>
          <a:xfrm>
            <a:off x="480060" y="2706624"/>
            <a:ext cx="5170932" cy="3483864"/>
          </a:xfrm>
        </p:spPr>
        <p:txBody>
          <a:bodyPr>
            <a:normAutofit/>
          </a:bodyPr>
          <a:lstStyle/>
          <a:p>
            <a:r>
              <a:rPr lang="en-US" sz="1900" dirty="0"/>
              <a:t>The crisis caused a </a:t>
            </a:r>
            <a:r>
              <a:rPr lang="en-US" sz="1900" b="1" dirty="0"/>
              <a:t>~71% revenue contraction</a:t>
            </a:r>
            <a:r>
              <a:rPr lang="en-US" sz="1900" dirty="0"/>
              <a:t>, closely mirroring the drop in orders</a:t>
            </a:r>
          </a:p>
          <a:p>
            <a:r>
              <a:rPr lang="en-US" sz="1900" dirty="0"/>
              <a:t>Indicates that </a:t>
            </a:r>
            <a:r>
              <a:rPr lang="en-US" sz="1900" b="1" dirty="0"/>
              <a:t>demand collapse—not pricing—was the primary driver of revenue loss</a:t>
            </a:r>
            <a:endParaRPr lang="en-US" sz="1900" dirty="0"/>
          </a:p>
        </p:txBody>
      </p:sp>
      <p:pic>
        <p:nvPicPr>
          <p:cNvPr id="8" name="Picture 7">
            <a:extLst>
              <a:ext uri="{FF2B5EF4-FFF2-40B4-BE49-F238E27FC236}">
                <a16:creationId xmlns:a16="http://schemas.microsoft.com/office/drawing/2014/main" id="{BBEDC892-7570-546A-AD6E-03615FFA9C4F}"/>
              </a:ext>
            </a:extLst>
          </p:cNvPr>
          <p:cNvPicPr>
            <a:picLocks noChangeAspect="1"/>
          </p:cNvPicPr>
          <p:nvPr/>
        </p:nvPicPr>
        <p:blipFill>
          <a:blip r:embed="rId2"/>
          <a:stretch>
            <a:fillRect/>
          </a:stretch>
        </p:blipFill>
        <p:spPr>
          <a:xfrm>
            <a:off x="5650991" y="1044747"/>
            <a:ext cx="3490723" cy="2775703"/>
          </a:xfrm>
          <a:prstGeom prst="rect">
            <a:avLst/>
          </a:prstGeom>
        </p:spPr>
      </p:pic>
      <p:pic>
        <p:nvPicPr>
          <p:cNvPr id="6" name="Picture 5">
            <a:extLst>
              <a:ext uri="{FF2B5EF4-FFF2-40B4-BE49-F238E27FC236}">
                <a16:creationId xmlns:a16="http://schemas.microsoft.com/office/drawing/2014/main" id="{44B10C6C-0F2C-AEF2-0CD1-F2D847A8A09E}"/>
              </a:ext>
            </a:extLst>
          </p:cNvPr>
          <p:cNvPicPr>
            <a:picLocks noChangeAspect="1"/>
          </p:cNvPicPr>
          <p:nvPr/>
        </p:nvPicPr>
        <p:blipFill>
          <a:blip r:embed="rId3"/>
          <a:stretch>
            <a:fillRect/>
          </a:stretch>
        </p:blipFill>
        <p:spPr>
          <a:xfrm>
            <a:off x="668872" y="4980939"/>
            <a:ext cx="7806255" cy="970989"/>
          </a:xfrm>
          <a:prstGeom prst="rect">
            <a:avLst/>
          </a:prstGeom>
        </p:spPr>
      </p:pic>
    </p:spTree>
    <p:extLst>
      <p:ext uri="{BB962C8B-B14F-4D97-AF65-F5344CB8AC3E}">
        <p14:creationId xmlns:p14="http://schemas.microsoft.com/office/powerpoint/2010/main" val="2925225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D00475-DB0E-EC01-EB88-847C2B6F8D4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BEA1A7-D41A-8BF7-8600-7AFB7A12AA65}"/>
              </a:ext>
            </a:extLst>
          </p:cNvPr>
          <p:cNvSpPr>
            <a:spLocks noGrp="1"/>
          </p:cNvSpPr>
          <p:nvPr>
            <p:ph type="title"/>
          </p:nvPr>
        </p:nvSpPr>
        <p:spPr>
          <a:xfrm>
            <a:off x="473202" y="640080"/>
            <a:ext cx="3614166" cy="1481328"/>
          </a:xfrm>
        </p:spPr>
        <p:txBody>
          <a:bodyPr anchor="b">
            <a:normAutofit/>
          </a:bodyPr>
          <a:lstStyle/>
          <a:p>
            <a:pPr>
              <a:lnSpc>
                <a:spcPct val="90000"/>
              </a:lnSpc>
            </a:pPr>
            <a:r>
              <a:rPr lang="en-US" sz="1900" dirty="0"/>
              <a:t>Ratings Fluctuation: Track average customer rating month-by-month. Which months saw the sharpest drop?</a:t>
            </a:r>
          </a:p>
        </p:txBody>
      </p:sp>
      <p:sp>
        <p:nvSpPr>
          <p:cNvPr id="13"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372868"/>
            <a:ext cx="2441321" cy="18288"/>
          </a:xfrm>
          <a:custGeom>
            <a:avLst/>
            <a:gdLst>
              <a:gd name="csX0" fmla="*/ 0 w 2441321"/>
              <a:gd name="csY0" fmla="*/ 0 h 18288"/>
              <a:gd name="csX1" fmla="*/ 585917 w 2441321"/>
              <a:gd name="csY1" fmla="*/ 0 h 18288"/>
              <a:gd name="csX2" fmla="*/ 1196247 w 2441321"/>
              <a:gd name="csY2" fmla="*/ 0 h 18288"/>
              <a:gd name="csX3" fmla="*/ 1806578 w 2441321"/>
              <a:gd name="csY3" fmla="*/ 0 h 18288"/>
              <a:gd name="csX4" fmla="*/ 2441321 w 2441321"/>
              <a:gd name="csY4" fmla="*/ 0 h 18288"/>
              <a:gd name="csX5" fmla="*/ 2441321 w 2441321"/>
              <a:gd name="csY5" fmla="*/ 18288 h 18288"/>
              <a:gd name="csX6" fmla="*/ 1830991 w 2441321"/>
              <a:gd name="csY6" fmla="*/ 18288 h 18288"/>
              <a:gd name="csX7" fmla="*/ 1269487 w 2441321"/>
              <a:gd name="csY7" fmla="*/ 18288 h 18288"/>
              <a:gd name="csX8" fmla="*/ 707983 w 2441321"/>
              <a:gd name="csY8" fmla="*/ 18288 h 18288"/>
              <a:gd name="csX9" fmla="*/ 0 w 2441321"/>
              <a:gd name="csY9" fmla="*/ 18288 h 18288"/>
              <a:gd name="csX10" fmla="*/ 0 w 2441321"/>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9E2E933-C052-950C-9450-812E83D062CA}"/>
              </a:ext>
            </a:extLst>
          </p:cNvPr>
          <p:cNvSpPr>
            <a:spLocks noGrp="1"/>
          </p:cNvSpPr>
          <p:nvPr>
            <p:ph idx="1"/>
          </p:nvPr>
        </p:nvSpPr>
        <p:spPr>
          <a:xfrm>
            <a:off x="473202" y="2660904"/>
            <a:ext cx="3614166" cy="3547872"/>
          </a:xfrm>
        </p:spPr>
        <p:txBody>
          <a:bodyPr anchor="t">
            <a:normAutofit/>
          </a:bodyPr>
          <a:lstStyle/>
          <a:p>
            <a:r>
              <a:rPr lang="en-US" sz="2000" dirty="0"/>
              <a:t>Customer satisfaction experienced a </a:t>
            </a:r>
            <a:r>
              <a:rPr lang="en-US" sz="2000" b="1" dirty="0"/>
              <a:t>sudden and sustained collapse</a:t>
            </a:r>
            <a:r>
              <a:rPr lang="en-US" sz="2000" dirty="0"/>
              <a:t>, not a temporary dip</a:t>
            </a:r>
          </a:p>
          <a:p>
            <a:r>
              <a:rPr lang="en-US" sz="2000" dirty="0"/>
              <a:t>This reflects a </a:t>
            </a:r>
            <a:r>
              <a:rPr lang="en-US" sz="2000" b="1" dirty="0"/>
              <a:t>deep trust deficit and ongoing service quality issues</a:t>
            </a:r>
            <a:endParaRPr lang="en-US" sz="1900" dirty="0"/>
          </a:p>
        </p:txBody>
      </p:sp>
      <p:pic>
        <p:nvPicPr>
          <p:cNvPr id="6" name="Picture 5">
            <a:extLst>
              <a:ext uri="{FF2B5EF4-FFF2-40B4-BE49-F238E27FC236}">
                <a16:creationId xmlns:a16="http://schemas.microsoft.com/office/drawing/2014/main" id="{CDD4FC13-4EA1-CEDF-C4A6-EA0A0D960702}"/>
              </a:ext>
            </a:extLst>
          </p:cNvPr>
          <p:cNvPicPr>
            <a:picLocks noChangeAspect="1"/>
          </p:cNvPicPr>
          <p:nvPr/>
        </p:nvPicPr>
        <p:blipFill>
          <a:blip r:embed="rId2"/>
          <a:stretch>
            <a:fillRect/>
          </a:stretch>
        </p:blipFill>
        <p:spPr>
          <a:xfrm>
            <a:off x="4574286" y="1771450"/>
            <a:ext cx="4094226" cy="3315100"/>
          </a:xfrm>
          <a:prstGeom prst="rect">
            <a:avLst/>
          </a:prstGeom>
        </p:spPr>
      </p:pic>
    </p:spTree>
    <p:extLst>
      <p:ext uri="{BB962C8B-B14F-4D97-AF65-F5344CB8AC3E}">
        <p14:creationId xmlns:p14="http://schemas.microsoft.com/office/powerpoint/2010/main" val="2844573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2D60EB-BF16-F123-79F6-A60B40F7713D}"/>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812" y="365125"/>
            <a:ext cx="8375585"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AB59A59-5555-F2FB-E88A-317336623FE4}"/>
              </a:ext>
            </a:extLst>
          </p:cNvPr>
          <p:cNvSpPr>
            <a:spLocks noGrp="1"/>
          </p:cNvSpPr>
          <p:nvPr>
            <p:ph type="title"/>
          </p:nvPr>
        </p:nvSpPr>
        <p:spPr>
          <a:xfrm>
            <a:off x="785059" y="586822"/>
            <a:ext cx="2670189" cy="1645920"/>
          </a:xfrm>
        </p:spPr>
        <p:txBody>
          <a:bodyPr>
            <a:normAutofit/>
          </a:bodyPr>
          <a:lstStyle/>
          <a:p>
            <a:pPr>
              <a:lnSpc>
                <a:spcPct val="90000"/>
              </a:lnSpc>
            </a:pPr>
            <a:r>
              <a:rPr lang="en-US" sz="1300"/>
              <a:t>Which high-value customers (top 5% by total spend before the crisis) showed the largest drop in order frequency and ratings during the crisis? What common patterns (e.g., location, cuisine preference, delivery delays) do they share?</a:t>
            </a:r>
          </a:p>
        </p:txBody>
      </p:sp>
      <p:sp>
        <p:nvSpPr>
          <p:cNvPr id="28" name="Rectangle 27">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06" y="1057739"/>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30" name="Rectangle 29">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99776" y="1402924"/>
            <a:ext cx="146304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64590AC-50D5-971E-4932-93FED9377015}"/>
              </a:ext>
            </a:extLst>
          </p:cNvPr>
          <p:cNvSpPr>
            <a:spLocks noGrp="1"/>
          </p:cNvSpPr>
          <p:nvPr>
            <p:ph idx="1"/>
          </p:nvPr>
        </p:nvSpPr>
        <p:spPr>
          <a:xfrm>
            <a:off x="4013373" y="586822"/>
            <a:ext cx="4501977" cy="1645920"/>
          </a:xfrm>
        </p:spPr>
        <p:txBody>
          <a:bodyPr anchor="ctr">
            <a:normAutofit/>
          </a:bodyPr>
          <a:lstStyle/>
          <a:p>
            <a:r>
              <a:rPr lang="en-US" sz="1600" dirty="0"/>
              <a:t>High-value, high-satisfaction customers </a:t>
            </a:r>
            <a:r>
              <a:rPr lang="en-US" sz="1600" b="1" dirty="0"/>
              <a:t>completely disengaged</a:t>
            </a:r>
            <a:r>
              <a:rPr lang="en-US" sz="1600" dirty="0"/>
              <a:t>, indicating </a:t>
            </a:r>
            <a:r>
              <a:rPr lang="en-US" sz="1600" b="1" dirty="0"/>
              <a:t>trust-driven churn rather than gradual dissatisfaction</a:t>
            </a:r>
          </a:p>
          <a:p>
            <a:r>
              <a:rPr lang="en-US" sz="1600" dirty="0"/>
              <a:t>The churn is </a:t>
            </a:r>
            <a:r>
              <a:rPr lang="en-US" sz="1600" b="1" dirty="0"/>
              <a:t>clustered in key metros and popular cuisines</a:t>
            </a:r>
            <a:r>
              <a:rPr lang="en-US" sz="1600" dirty="0"/>
              <a:t>, amplifying revenue impact</a:t>
            </a:r>
          </a:p>
        </p:txBody>
      </p:sp>
      <p:pic>
        <p:nvPicPr>
          <p:cNvPr id="6" name="Picture 5">
            <a:extLst>
              <a:ext uri="{FF2B5EF4-FFF2-40B4-BE49-F238E27FC236}">
                <a16:creationId xmlns:a16="http://schemas.microsoft.com/office/drawing/2014/main" id="{C28EBC30-1305-EF91-E600-8D426A4EE8BC}"/>
              </a:ext>
            </a:extLst>
          </p:cNvPr>
          <p:cNvPicPr>
            <a:picLocks noChangeAspect="1"/>
          </p:cNvPicPr>
          <p:nvPr/>
        </p:nvPicPr>
        <p:blipFill>
          <a:blip r:embed="rId2"/>
          <a:stretch>
            <a:fillRect/>
          </a:stretch>
        </p:blipFill>
        <p:spPr>
          <a:xfrm>
            <a:off x="418338" y="3116859"/>
            <a:ext cx="8373618" cy="2718258"/>
          </a:xfrm>
          <a:prstGeom prst="rect">
            <a:avLst/>
          </a:prstGeom>
        </p:spPr>
      </p:pic>
    </p:spTree>
    <p:extLst>
      <p:ext uri="{BB962C8B-B14F-4D97-AF65-F5344CB8AC3E}">
        <p14:creationId xmlns:p14="http://schemas.microsoft.com/office/powerpoint/2010/main" val="3599147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Takeaways</a:t>
            </a:r>
          </a:p>
        </p:txBody>
      </p:sp>
      <p:sp>
        <p:nvSpPr>
          <p:cNvPr id="3" name="Content Placeholder 2"/>
          <p:cNvSpPr>
            <a:spLocks noGrp="1"/>
          </p:cNvSpPr>
          <p:nvPr>
            <p:ph idx="1"/>
          </p:nvPr>
        </p:nvSpPr>
        <p:spPr/>
        <p:txBody>
          <a:bodyPr>
            <a:normAutofit fontScale="62500" lnSpcReduction="20000"/>
          </a:bodyPr>
          <a:lstStyle/>
          <a:p>
            <a:r>
              <a:rPr lang="en-US" dirty="0"/>
              <a:t>The crisis led to a </a:t>
            </a:r>
            <a:r>
              <a:rPr lang="en-US" b="1" dirty="0"/>
              <a:t>~70% drop in orders and revenue</a:t>
            </a:r>
            <a:r>
              <a:rPr lang="en-US" dirty="0"/>
              <a:t>, driven by a </a:t>
            </a:r>
            <a:r>
              <a:rPr lang="en-US" b="1" dirty="0"/>
              <a:t>collapse in customer trust</a:t>
            </a:r>
          </a:p>
          <a:p>
            <a:r>
              <a:rPr lang="en-US" b="1" dirty="0"/>
              <a:t>Delivery failures (delays ↑, SLA ↓, cancellations 2x)</a:t>
            </a:r>
            <a:r>
              <a:rPr lang="en-US" dirty="0"/>
              <a:t> were the primary trigger for negative customer experience</a:t>
            </a:r>
          </a:p>
          <a:p>
            <a:r>
              <a:rPr lang="en-US" dirty="0"/>
              <a:t>Customer satisfaction saw a </a:t>
            </a:r>
            <a:r>
              <a:rPr lang="en-US" b="1" dirty="0"/>
              <a:t>sharp and sustained decline (ratings 4.5 → 2.6)</a:t>
            </a:r>
            <a:r>
              <a:rPr lang="en-US" dirty="0"/>
              <a:t>, not a temporary dip</a:t>
            </a:r>
          </a:p>
          <a:p>
            <a:r>
              <a:rPr lang="en-US" dirty="0"/>
              <a:t>Impact was </a:t>
            </a:r>
            <a:r>
              <a:rPr lang="en-US" b="1" dirty="0"/>
              <a:t>consistent across Tier-1 cities</a:t>
            </a:r>
            <a:r>
              <a:rPr lang="en-US" dirty="0"/>
              <a:t>, indicating a </a:t>
            </a:r>
            <a:r>
              <a:rPr lang="en-US" b="1" dirty="0"/>
              <a:t>platform-wide issue</a:t>
            </a:r>
            <a:r>
              <a:rPr lang="en-US" dirty="0"/>
              <a:t>, not regional</a:t>
            </a:r>
          </a:p>
          <a:p>
            <a:r>
              <a:rPr lang="en-US" dirty="0"/>
              <a:t>Several restaurants experienced </a:t>
            </a:r>
            <a:r>
              <a:rPr lang="en-US" b="1" dirty="0"/>
              <a:t>near-total demand loss (90–100%)</a:t>
            </a:r>
            <a:r>
              <a:rPr lang="en-US" dirty="0"/>
              <a:t>, affecting partner stability</a:t>
            </a:r>
          </a:p>
          <a:p>
            <a:r>
              <a:rPr lang="en-US" b="1" dirty="0"/>
              <a:t>High-value, high-rated customers churned</a:t>
            </a:r>
            <a:r>
              <a:rPr lang="en-US" dirty="0"/>
              <a:t>, highlighting </a:t>
            </a:r>
            <a:r>
              <a:rPr lang="en-US" b="1" dirty="0"/>
              <a:t>trust-driven disengagement</a:t>
            </a:r>
          </a:p>
          <a:p>
            <a:r>
              <a:rPr lang="en-US" dirty="0"/>
              <a:t>Market comparison shows </a:t>
            </a:r>
            <a:r>
              <a:rPr lang="en-US" b="1" dirty="0"/>
              <a:t>competitors grew</a:t>
            </a:r>
            <a:r>
              <a:rPr lang="en-US" dirty="0"/>
              <a:t>, proving the crisis was </a:t>
            </a:r>
            <a:r>
              <a:rPr lang="en-US" b="1" dirty="0"/>
              <a:t>internal, not industry-wide</a:t>
            </a:r>
          </a:p>
          <a:p>
            <a:r>
              <a:rPr lang="en-US" dirty="0"/>
              <a:t>Customers shifted toward </a:t>
            </a:r>
            <a:r>
              <a:rPr lang="en-US" b="1" dirty="0"/>
              <a:t>low-value “survival orders”</a:t>
            </a:r>
            <a:r>
              <a:rPr lang="en-US" dirty="0"/>
              <a:t>, reflecting reduced confidence and spending</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Crisis Recovery Strategy – Action Plan</a:t>
            </a:r>
            <a:endParaRPr dirty="0"/>
          </a:p>
        </p:txBody>
      </p:sp>
      <p:graphicFrame>
        <p:nvGraphicFramePr>
          <p:cNvPr id="6" name="Table 5">
            <a:extLst>
              <a:ext uri="{FF2B5EF4-FFF2-40B4-BE49-F238E27FC236}">
                <a16:creationId xmlns:a16="http://schemas.microsoft.com/office/drawing/2014/main" id="{3E41384F-2B79-4CF6-AA74-FF24F7442F13}"/>
              </a:ext>
            </a:extLst>
          </p:cNvPr>
          <p:cNvGraphicFramePr>
            <a:graphicFrameLocks noGrp="1"/>
          </p:cNvGraphicFramePr>
          <p:nvPr>
            <p:extLst>
              <p:ext uri="{D42A27DB-BD31-4B8C-83A1-F6EECF244321}">
                <p14:modId xmlns:p14="http://schemas.microsoft.com/office/powerpoint/2010/main" val="2180202948"/>
              </p:ext>
            </p:extLst>
          </p:nvPr>
        </p:nvGraphicFramePr>
        <p:xfrm>
          <a:off x="457200" y="1503286"/>
          <a:ext cx="8229600" cy="4527498"/>
        </p:xfrm>
        <a:graphic>
          <a:graphicData uri="http://schemas.openxmlformats.org/drawingml/2006/table">
            <a:tbl>
              <a:tblPr/>
              <a:tblGrid>
                <a:gridCol w="2057400">
                  <a:extLst>
                    <a:ext uri="{9D8B030D-6E8A-4147-A177-3AD203B41FA5}">
                      <a16:colId xmlns:a16="http://schemas.microsoft.com/office/drawing/2014/main" val="4217485231"/>
                    </a:ext>
                  </a:extLst>
                </a:gridCol>
                <a:gridCol w="2057400">
                  <a:extLst>
                    <a:ext uri="{9D8B030D-6E8A-4147-A177-3AD203B41FA5}">
                      <a16:colId xmlns:a16="http://schemas.microsoft.com/office/drawing/2014/main" val="857229824"/>
                    </a:ext>
                  </a:extLst>
                </a:gridCol>
                <a:gridCol w="2057400">
                  <a:extLst>
                    <a:ext uri="{9D8B030D-6E8A-4147-A177-3AD203B41FA5}">
                      <a16:colId xmlns:a16="http://schemas.microsoft.com/office/drawing/2014/main" val="2489647865"/>
                    </a:ext>
                  </a:extLst>
                </a:gridCol>
                <a:gridCol w="2057400">
                  <a:extLst>
                    <a:ext uri="{9D8B030D-6E8A-4147-A177-3AD203B41FA5}">
                      <a16:colId xmlns:a16="http://schemas.microsoft.com/office/drawing/2014/main" val="3826790452"/>
                    </a:ext>
                  </a:extLst>
                </a:gridCol>
              </a:tblGrid>
              <a:tr h="201154">
                <a:tc>
                  <a:txBody>
                    <a:bodyPr/>
                    <a:lstStyle/>
                    <a:p>
                      <a:pPr>
                        <a:buNone/>
                      </a:pPr>
                      <a:r>
                        <a:rPr lang="en-US" sz="1000" b="1"/>
                        <a:t>Pillar</a:t>
                      </a:r>
                      <a:endParaRPr lang="en-US" sz="1000"/>
                    </a:p>
                  </a:txBody>
                  <a:tcPr marL="50288" marR="50288" marT="25144" marB="25144" anchor="ctr">
                    <a:lnL>
                      <a:noFill/>
                    </a:lnL>
                    <a:lnR>
                      <a:noFill/>
                    </a:lnR>
                    <a:lnT>
                      <a:noFill/>
                    </a:lnT>
                    <a:lnB>
                      <a:noFill/>
                    </a:lnB>
                    <a:noFill/>
                  </a:tcPr>
                </a:tc>
                <a:tc>
                  <a:txBody>
                    <a:bodyPr/>
                    <a:lstStyle/>
                    <a:p>
                      <a:pPr>
                        <a:buNone/>
                      </a:pPr>
                      <a:r>
                        <a:rPr lang="en-US" sz="1000" b="1"/>
                        <a:t>Focus Area</a:t>
                      </a:r>
                      <a:endParaRPr lang="en-US" sz="1000"/>
                    </a:p>
                  </a:txBody>
                  <a:tcPr marL="50288" marR="50288" marT="25144" marB="25144" anchor="ctr">
                    <a:lnL>
                      <a:noFill/>
                    </a:lnL>
                    <a:lnR>
                      <a:noFill/>
                    </a:lnR>
                    <a:lnT>
                      <a:noFill/>
                    </a:lnT>
                    <a:lnB>
                      <a:noFill/>
                    </a:lnB>
                    <a:noFill/>
                  </a:tcPr>
                </a:tc>
                <a:tc>
                  <a:txBody>
                    <a:bodyPr/>
                    <a:lstStyle/>
                    <a:p>
                      <a:pPr>
                        <a:buNone/>
                      </a:pPr>
                      <a:r>
                        <a:rPr lang="en-US" sz="1000" b="1"/>
                        <a:t>Key Actions</a:t>
                      </a:r>
                      <a:endParaRPr lang="en-US" sz="1000"/>
                    </a:p>
                  </a:txBody>
                  <a:tcPr marL="50288" marR="50288" marT="25144" marB="25144" anchor="ctr">
                    <a:lnL>
                      <a:noFill/>
                    </a:lnL>
                    <a:lnR>
                      <a:noFill/>
                    </a:lnR>
                    <a:lnT>
                      <a:noFill/>
                    </a:lnT>
                    <a:lnB>
                      <a:noFill/>
                    </a:lnB>
                    <a:noFill/>
                  </a:tcPr>
                </a:tc>
                <a:tc>
                  <a:txBody>
                    <a:bodyPr/>
                    <a:lstStyle/>
                    <a:p>
                      <a:pPr>
                        <a:buNone/>
                      </a:pPr>
                      <a:r>
                        <a:rPr lang="en-US" sz="1000" b="1"/>
                        <a:t>Business Impact</a:t>
                      </a:r>
                      <a:endParaRPr lang="en-US" sz="1000"/>
                    </a:p>
                  </a:txBody>
                  <a:tcPr marL="50288" marR="50288" marT="25144" marB="25144" anchor="ctr">
                    <a:lnL>
                      <a:noFill/>
                    </a:lnL>
                    <a:lnR>
                      <a:noFill/>
                    </a:lnR>
                    <a:lnT>
                      <a:noFill/>
                    </a:lnT>
                    <a:lnB>
                      <a:noFill/>
                    </a:lnB>
                    <a:noFill/>
                  </a:tcPr>
                </a:tc>
                <a:extLst>
                  <a:ext uri="{0D108BD9-81ED-4DB2-BD59-A6C34878D82A}">
                    <a16:rowId xmlns:a16="http://schemas.microsoft.com/office/drawing/2014/main" val="3499528211"/>
                  </a:ext>
                </a:extLst>
              </a:tr>
              <a:tr h="804616">
                <a:tc>
                  <a:txBody>
                    <a:bodyPr/>
                    <a:lstStyle/>
                    <a:p>
                      <a:pPr>
                        <a:buNone/>
                      </a:pPr>
                      <a:r>
                        <a:rPr lang="en-US" sz="1000"/>
                        <a:t>🛡️ Restore Trust</a:t>
                      </a:r>
                    </a:p>
                  </a:txBody>
                  <a:tcPr marL="50288" marR="50288" marT="25144" marB="25144" anchor="ctr">
                    <a:lnL>
                      <a:noFill/>
                    </a:lnL>
                    <a:lnR>
                      <a:noFill/>
                    </a:lnR>
                    <a:lnT>
                      <a:noFill/>
                    </a:lnT>
                    <a:lnB>
                      <a:noFill/>
                    </a:lnB>
                    <a:noFill/>
                  </a:tcPr>
                </a:tc>
                <a:tc>
                  <a:txBody>
                    <a:bodyPr/>
                    <a:lstStyle/>
                    <a:p>
                      <a:pPr>
                        <a:buNone/>
                      </a:pPr>
                      <a:r>
                        <a:rPr lang="en-US" sz="1000"/>
                        <a:t>Food Safety &amp; Transparency</a:t>
                      </a:r>
                    </a:p>
                  </a:txBody>
                  <a:tcPr marL="50288" marR="50288" marT="25144" marB="25144" anchor="ctr">
                    <a:lnL>
                      <a:noFill/>
                    </a:lnL>
                    <a:lnR>
                      <a:noFill/>
                    </a:lnR>
                    <a:lnT>
                      <a:noFill/>
                    </a:lnT>
                    <a:lnB>
                      <a:noFill/>
                    </a:lnB>
                    <a:noFill/>
                  </a:tcPr>
                </a:tc>
                <a:tc>
                  <a:txBody>
                    <a:bodyPr/>
                    <a:lstStyle/>
                    <a:p>
                      <a:pPr>
                        <a:buNone/>
                      </a:pPr>
                      <a:r>
                        <a:rPr lang="en-US" sz="1000"/>
                        <a:t>Hygiene-certified badges, audit reports, transparency campaigns</a:t>
                      </a:r>
                    </a:p>
                  </a:txBody>
                  <a:tcPr marL="50288" marR="50288" marT="25144" marB="25144" anchor="ctr">
                    <a:lnL>
                      <a:noFill/>
                    </a:lnL>
                    <a:lnR>
                      <a:noFill/>
                    </a:lnR>
                    <a:lnT>
                      <a:noFill/>
                    </a:lnT>
                    <a:lnB>
                      <a:noFill/>
                    </a:lnB>
                    <a:noFill/>
                  </a:tcPr>
                </a:tc>
                <a:tc>
                  <a:txBody>
                    <a:bodyPr/>
                    <a:lstStyle/>
                    <a:p>
                      <a:pPr>
                        <a:buNone/>
                      </a:pPr>
                      <a:r>
                        <a:rPr lang="en-US" sz="1000"/>
                        <a:t>Rebuild customer confidence &amp; improve ratings</a:t>
                      </a:r>
                    </a:p>
                  </a:txBody>
                  <a:tcPr marL="50288" marR="50288" marT="25144" marB="25144" anchor="ctr">
                    <a:lnL>
                      <a:noFill/>
                    </a:lnL>
                    <a:lnR>
                      <a:noFill/>
                    </a:lnR>
                    <a:lnT>
                      <a:noFill/>
                    </a:lnT>
                    <a:lnB>
                      <a:noFill/>
                    </a:lnB>
                    <a:noFill/>
                  </a:tcPr>
                </a:tc>
                <a:extLst>
                  <a:ext uri="{0D108BD9-81ED-4DB2-BD59-A6C34878D82A}">
                    <a16:rowId xmlns:a16="http://schemas.microsoft.com/office/drawing/2014/main" val="659231220"/>
                  </a:ext>
                </a:extLst>
              </a:tr>
              <a:tr h="502885">
                <a:tc>
                  <a:txBody>
                    <a:bodyPr/>
                    <a:lstStyle/>
                    <a:p>
                      <a:pPr>
                        <a:buNone/>
                      </a:pPr>
                      <a:r>
                        <a:rPr lang="en-US" sz="1000"/>
                        <a:t>🚚 Fix Operations</a:t>
                      </a:r>
                    </a:p>
                  </a:txBody>
                  <a:tcPr marL="50288" marR="50288" marT="25144" marB="25144" anchor="ctr">
                    <a:lnL>
                      <a:noFill/>
                    </a:lnL>
                    <a:lnR>
                      <a:noFill/>
                    </a:lnR>
                    <a:lnT>
                      <a:noFill/>
                    </a:lnT>
                    <a:lnB>
                      <a:noFill/>
                    </a:lnB>
                    <a:noFill/>
                  </a:tcPr>
                </a:tc>
                <a:tc>
                  <a:txBody>
                    <a:bodyPr/>
                    <a:lstStyle/>
                    <a:p>
                      <a:pPr>
                        <a:buNone/>
                      </a:pPr>
                      <a:r>
                        <a:rPr lang="en-US" sz="1000"/>
                        <a:t>Delivery &amp; SLA</a:t>
                      </a:r>
                    </a:p>
                  </a:txBody>
                  <a:tcPr marL="50288" marR="50288" marT="25144" marB="25144" anchor="ctr">
                    <a:lnL>
                      <a:noFill/>
                    </a:lnL>
                    <a:lnR>
                      <a:noFill/>
                    </a:lnR>
                    <a:lnT>
                      <a:noFill/>
                    </a:lnT>
                    <a:lnB>
                      <a:noFill/>
                    </a:lnB>
                    <a:noFill/>
                  </a:tcPr>
                </a:tc>
                <a:tc>
                  <a:txBody>
                    <a:bodyPr/>
                    <a:lstStyle/>
                    <a:p>
                      <a:pPr>
                        <a:buNone/>
                      </a:pPr>
                      <a:r>
                        <a:rPr lang="en-US" sz="1000"/>
                        <a:t>Route optimization, real-time tracking, delay compensation</a:t>
                      </a:r>
                    </a:p>
                  </a:txBody>
                  <a:tcPr marL="50288" marR="50288" marT="25144" marB="25144" anchor="ctr">
                    <a:lnL>
                      <a:noFill/>
                    </a:lnL>
                    <a:lnR>
                      <a:noFill/>
                    </a:lnR>
                    <a:lnT>
                      <a:noFill/>
                    </a:lnT>
                    <a:lnB>
                      <a:noFill/>
                    </a:lnB>
                    <a:noFill/>
                  </a:tcPr>
                </a:tc>
                <a:tc>
                  <a:txBody>
                    <a:bodyPr/>
                    <a:lstStyle/>
                    <a:p>
                      <a:pPr>
                        <a:buNone/>
                      </a:pPr>
                      <a:r>
                        <a:rPr lang="en-US" sz="1000"/>
                        <a:t>Reduce cancellations &amp; improve reliability</a:t>
                      </a:r>
                    </a:p>
                  </a:txBody>
                  <a:tcPr marL="50288" marR="50288" marT="25144" marB="25144" anchor="ctr">
                    <a:lnL>
                      <a:noFill/>
                    </a:lnL>
                    <a:lnR>
                      <a:noFill/>
                    </a:lnR>
                    <a:lnT>
                      <a:noFill/>
                    </a:lnT>
                    <a:lnB>
                      <a:noFill/>
                    </a:lnB>
                    <a:noFill/>
                  </a:tcPr>
                </a:tc>
                <a:extLst>
                  <a:ext uri="{0D108BD9-81ED-4DB2-BD59-A6C34878D82A}">
                    <a16:rowId xmlns:a16="http://schemas.microsoft.com/office/drawing/2014/main" val="919414340"/>
                  </a:ext>
                </a:extLst>
              </a:tr>
              <a:tr h="502885">
                <a:tc>
                  <a:txBody>
                    <a:bodyPr/>
                    <a:lstStyle/>
                    <a:p>
                      <a:pPr>
                        <a:buNone/>
                      </a:pPr>
                      <a:r>
                        <a:rPr lang="en-US" sz="1000"/>
                        <a:t>🎯 Re-engage Customers</a:t>
                      </a:r>
                    </a:p>
                  </a:txBody>
                  <a:tcPr marL="50288" marR="50288" marT="25144" marB="25144" anchor="ctr">
                    <a:lnL>
                      <a:noFill/>
                    </a:lnL>
                    <a:lnR>
                      <a:noFill/>
                    </a:lnR>
                    <a:lnT>
                      <a:noFill/>
                    </a:lnT>
                    <a:lnB>
                      <a:noFill/>
                    </a:lnB>
                    <a:noFill/>
                  </a:tcPr>
                </a:tc>
                <a:tc>
                  <a:txBody>
                    <a:bodyPr/>
                    <a:lstStyle/>
                    <a:p>
                      <a:pPr>
                        <a:buNone/>
                      </a:pPr>
                      <a:r>
                        <a:rPr lang="en-US" sz="1000"/>
                        <a:t>High-Value Users</a:t>
                      </a:r>
                    </a:p>
                  </a:txBody>
                  <a:tcPr marL="50288" marR="50288" marT="25144" marB="25144" anchor="ctr">
                    <a:lnL>
                      <a:noFill/>
                    </a:lnL>
                    <a:lnR>
                      <a:noFill/>
                    </a:lnR>
                    <a:lnT>
                      <a:noFill/>
                    </a:lnT>
                    <a:lnB>
                      <a:noFill/>
                    </a:lnB>
                    <a:noFill/>
                  </a:tcPr>
                </a:tc>
                <a:tc>
                  <a:txBody>
                    <a:bodyPr/>
                    <a:lstStyle/>
                    <a:p>
                      <a:pPr>
                        <a:buNone/>
                      </a:pPr>
                      <a:r>
                        <a:rPr lang="en-US" sz="1000"/>
                        <a:t>Personalized offers, loyalty rewards, priority delivery</a:t>
                      </a:r>
                    </a:p>
                  </a:txBody>
                  <a:tcPr marL="50288" marR="50288" marT="25144" marB="25144" anchor="ctr">
                    <a:lnL>
                      <a:noFill/>
                    </a:lnL>
                    <a:lnR>
                      <a:noFill/>
                    </a:lnR>
                    <a:lnT>
                      <a:noFill/>
                    </a:lnT>
                    <a:lnB>
                      <a:noFill/>
                    </a:lnB>
                    <a:noFill/>
                  </a:tcPr>
                </a:tc>
                <a:tc>
                  <a:txBody>
                    <a:bodyPr/>
                    <a:lstStyle/>
                    <a:p>
                      <a:pPr>
                        <a:buNone/>
                      </a:pPr>
                      <a:r>
                        <a:rPr lang="en-US" sz="1000"/>
                        <a:t>Recover high-value churned customers</a:t>
                      </a:r>
                    </a:p>
                  </a:txBody>
                  <a:tcPr marL="50288" marR="50288" marT="25144" marB="25144" anchor="ctr">
                    <a:lnL>
                      <a:noFill/>
                    </a:lnL>
                    <a:lnR>
                      <a:noFill/>
                    </a:lnR>
                    <a:lnT>
                      <a:noFill/>
                    </a:lnT>
                    <a:lnB>
                      <a:noFill/>
                    </a:lnB>
                    <a:noFill/>
                  </a:tcPr>
                </a:tc>
                <a:extLst>
                  <a:ext uri="{0D108BD9-81ED-4DB2-BD59-A6C34878D82A}">
                    <a16:rowId xmlns:a16="http://schemas.microsoft.com/office/drawing/2014/main" val="1662896428"/>
                  </a:ext>
                </a:extLst>
              </a:tr>
              <a:tr h="502885">
                <a:tc>
                  <a:txBody>
                    <a:bodyPr/>
                    <a:lstStyle/>
                    <a:p>
                      <a:pPr>
                        <a:buNone/>
                      </a:pPr>
                      <a:r>
                        <a:rPr lang="en-US" sz="1000"/>
                        <a:t>🏙️ Targeted Recovery</a:t>
                      </a:r>
                    </a:p>
                  </a:txBody>
                  <a:tcPr marL="50288" marR="50288" marT="25144" marB="25144" anchor="ctr">
                    <a:lnL>
                      <a:noFill/>
                    </a:lnL>
                    <a:lnR>
                      <a:noFill/>
                    </a:lnR>
                    <a:lnT>
                      <a:noFill/>
                    </a:lnT>
                    <a:lnB>
                      <a:noFill/>
                    </a:lnB>
                    <a:noFill/>
                  </a:tcPr>
                </a:tc>
                <a:tc>
                  <a:txBody>
                    <a:bodyPr/>
                    <a:lstStyle/>
                    <a:p>
                      <a:pPr>
                        <a:buNone/>
                      </a:pPr>
                      <a:r>
                        <a:rPr lang="en-US" sz="1000"/>
                        <a:t>City-Level Focus</a:t>
                      </a:r>
                    </a:p>
                  </a:txBody>
                  <a:tcPr marL="50288" marR="50288" marT="25144" marB="25144" anchor="ctr">
                    <a:lnL>
                      <a:noFill/>
                    </a:lnL>
                    <a:lnR>
                      <a:noFill/>
                    </a:lnR>
                    <a:lnT>
                      <a:noFill/>
                    </a:lnT>
                    <a:lnB>
                      <a:noFill/>
                    </a:lnB>
                    <a:noFill/>
                  </a:tcPr>
                </a:tc>
                <a:tc>
                  <a:txBody>
                    <a:bodyPr/>
                    <a:lstStyle/>
                    <a:p>
                      <a:pPr>
                        <a:buNone/>
                      </a:pPr>
                      <a:r>
                        <a:rPr lang="en-US" sz="1000"/>
                        <a:t>Focus on Bengaluru &amp; Mumbai, geo-targeted campaigns</a:t>
                      </a:r>
                    </a:p>
                  </a:txBody>
                  <a:tcPr marL="50288" marR="50288" marT="25144" marB="25144" anchor="ctr">
                    <a:lnL>
                      <a:noFill/>
                    </a:lnL>
                    <a:lnR>
                      <a:noFill/>
                    </a:lnR>
                    <a:lnT>
                      <a:noFill/>
                    </a:lnT>
                    <a:lnB>
                      <a:noFill/>
                    </a:lnB>
                    <a:noFill/>
                  </a:tcPr>
                </a:tc>
                <a:tc>
                  <a:txBody>
                    <a:bodyPr/>
                    <a:lstStyle/>
                    <a:p>
                      <a:pPr>
                        <a:buNone/>
                      </a:pPr>
                      <a:r>
                        <a:rPr lang="en-US" sz="1000"/>
                        <a:t>Faster demand recovery in key markets</a:t>
                      </a:r>
                    </a:p>
                  </a:txBody>
                  <a:tcPr marL="50288" marR="50288" marT="25144" marB="25144" anchor="ctr">
                    <a:lnL>
                      <a:noFill/>
                    </a:lnL>
                    <a:lnR>
                      <a:noFill/>
                    </a:lnR>
                    <a:lnT>
                      <a:noFill/>
                    </a:lnT>
                    <a:lnB>
                      <a:noFill/>
                    </a:lnB>
                    <a:noFill/>
                  </a:tcPr>
                </a:tc>
                <a:extLst>
                  <a:ext uri="{0D108BD9-81ED-4DB2-BD59-A6C34878D82A}">
                    <a16:rowId xmlns:a16="http://schemas.microsoft.com/office/drawing/2014/main" val="1838048254"/>
                  </a:ext>
                </a:extLst>
              </a:tr>
              <a:tr h="653750">
                <a:tc>
                  <a:txBody>
                    <a:bodyPr/>
                    <a:lstStyle/>
                    <a:p>
                      <a:pPr>
                        <a:buNone/>
                      </a:pPr>
                      <a:r>
                        <a:rPr lang="en-US" sz="1000"/>
                        <a:t>🍽️ Partner Stability</a:t>
                      </a:r>
                    </a:p>
                  </a:txBody>
                  <a:tcPr marL="50288" marR="50288" marT="25144" marB="25144" anchor="ctr">
                    <a:lnL>
                      <a:noFill/>
                    </a:lnL>
                    <a:lnR>
                      <a:noFill/>
                    </a:lnR>
                    <a:lnT>
                      <a:noFill/>
                    </a:lnT>
                    <a:lnB>
                      <a:noFill/>
                    </a:lnB>
                    <a:noFill/>
                  </a:tcPr>
                </a:tc>
                <a:tc>
                  <a:txBody>
                    <a:bodyPr/>
                    <a:lstStyle/>
                    <a:p>
                      <a:pPr>
                        <a:buNone/>
                      </a:pPr>
                      <a:r>
                        <a:rPr lang="en-US" sz="1000"/>
                        <a:t>Restaurant Support</a:t>
                      </a:r>
                    </a:p>
                  </a:txBody>
                  <a:tcPr marL="50288" marR="50288" marT="25144" marB="25144" anchor="ctr">
                    <a:lnL>
                      <a:noFill/>
                    </a:lnL>
                    <a:lnR>
                      <a:noFill/>
                    </a:lnR>
                    <a:lnT>
                      <a:noFill/>
                    </a:lnT>
                    <a:lnB>
                      <a:noFill/>
                    </a:lnB>
                    <a:noFill/>
                  </a:tcPr>
                </a:tc>
                <a:tc>
                  <a:txBody>
                    <a:bodyPr/>
                    <a:lstStyle/>
                    <a:p>
                      <a:pPr>
                        <a:buNone/>
                      </a:pPr>
                      <a:r>
                        <a:rPr lang="en-US" sz="1000"/>
                        <a:t>Visibility boosts, incentives for small/cloud kitchens</a:t>
                      </a:r>
                    </a:p>
                  </a:txBody>
                  <a:tcPr marL="50288" marR="50288" marT="25144" marB="25144" anchor="ctr">
                    <a:lnL>
                      <a:noFill/>
                    </a:lnL>
                    <a:lnR>
                      <a:noFill/>
                    </a:lnR>
                    <a:lnT>
                      <a:noFill/>
                    </a:lnT>
                    <a:lnB>
                      <a:noFill/>
                    </a:lnB>
                    <a:noFill/>
                  </a:tcPr>
                </a:tc>
                <a:tc>
                  <a:txBody>
                    <a:bodyPr/>
                    <a:lstStyle/>
                    <a:p>
                      <a:pPr>
                        <a:buNone/>
                      </a:pPr>
                      <a:r>
                        <a:rPr lang="en-US" sz="1000" dirty="0"/>
                        <a:t>Reduce partner churn &amp; improve supply</a:t>
                      </a:r>
                    </a:p>
                  </a:txBody>
                  <a:tcPr marL="50288" marR="50288" marT="25144" marB="25144" anchor="ctr">
                    <a:lnL>
                      <a:noFill/>
                    </a:lnL>
                    <a:lnR>
                      <a:noFill/>
                    </a:lnR>
                    <a:lnT>
                      <a:noFill/>
                    </a:lnT>
                    <a:lnB>
                      <a:noFill/>
                    </a:lnB>
                    <a:noFill/>
                  </a:tcPr>
                </a:tc>
                <a:extLst>
                  <a:ext uri="{0D108BD9-81ED-4DB2-BD59-A6C34878D82A}">
                    <a16:rowId xmlns:a16="http://schemas.microsoft.com/office/drawing/2014/main" val="1621261239"/>
                  </a:ext>
                </a:extLst>
              </a:tr>
              <a:tr h="502885">
                <a:tc>
                  <a:txBody>
                    <a:bodyPr/>
                    <a:lstStyle/>
                    <a:p>
                      <a:pPr>
                        <a:buNone/>
                      </a:pPr>
                      <a:r>
                        <a:rPr lang="en-US" sz="1000"/>
                        <a:t>💸 Smart Marketing</a:t>
                      </a:r>
                    </a:p>
                  </a:txBody>
                  <a:tcPr marL="50288" marR="50288" marT="25144" marB="25144" anchor="ctr">
                    <a:lnL>
                      <a:noFill/>
                    </a:lnL>
                    <a:lnR>
                      <a:noFill/>
                    </a:lnR>
                    <a:lnT>
                      <a:noFill/>
                    </a:lnT>
                    <a:lnB>
                      <a:noFill/>
                    </a:lnB>
                    <a:noFill/>
                  </a:tcPr>
                </a:tc>
                <a:tc>
                  <a:txBody>
                    <a:bodyPr/>
                    <a:lstStyle/>
                    <a:p>
                      <a:pPr>
                        <a:buNone/>
                      </a:pPr>
                      <a:r>
                        <a:rPr lang="en-US" sz="1000"/>
                        <a:t>CAC Optimization</a:t>
                      </a:r>
                    </a:p>
                  </a:txBody>
                  <a:tcPr marL="50288" marR="50288" marT="25144" marB="25144" anchor="ctr">
                    <a:lnL>
                      <a:noFill/>
                    </a:lnL>
                    <a:lnR>
                      <a:noFill/>
                    </a:lnR>
                    <a:lnT>
                      <a:noFill/>
                    </a:lnT>
                    <a:lnB>
                      <a:noFill/>
                    </a:lnB>
                    <a:noFill/>
                  </a:tcPr>
                </a:tc>
                <a:tc>
                  <a:txBody>
                    <a:bodyPr/>
                    <a:lstStyle/>
                    <a:p>
                      <a:pPr>
                        <a:buNone/>
                      </a:pPr>
                      <a:r>
                        <a:rPr lang="en-US" sz="1000"/>
                        <a:t>Shift to retargeting, reduce blanket discounts</a:t>
                      </a:r>
                    </a:p>
                  </a:txBody>
                  <a:tcPr marL="50288" marR="50288" marT="25144" marB="25144" anchor="ctr">
                    <a:lnL>
                      <a:noFill/>
                    </a:lnL>
                    <a:lnR>
                      <a:noFill/>
                    </a:lnR>
                    <a:lnT>
                      <a:noFill/>
                    </a:lnT>
                    <a:lnB>
                      <a:noFill/>
                    </a:lnB>
                    <a:noFill/>
                  </a:tcPr>
                </a:tc>
                <a:tc>
                  <a:txBody>
                    <a:bodyPr/>
                    <a:lstStyle/>
                    <a:p>
                      <a:pPr>
                        <a:buNone/>
                      </a:pPr>
                      <a:r>
                        <a:rPr lang="en-US" sz="1000"/>
                        <a:t>Improve ROI &amp; lower acquisition cost</a:t>
                      </a:r>
                    </a:p>
                  </a:txBody>
                  <a:tcPr marL="50288" marR="50288" marT="25144" marB="25144" anchor="ctr">
                    <a:lnL>
                      <a:noFill/>
                    </a:lnL>
                    <a:lnR>
                      <a:noFill/>
                    </a:lnR>
                    <a:lnT>
                      <a:noFill/>
                    </a:lnT>
                    <a:lnB>
                      <a:noFill/>
                    </a:lnB>
                    <a:noFill/>
                  </a:tcPr>
                </a:tc>
                <a:extLst>
                  <a:ext uri="{0D108BD9-81ED-4DB2-BD59-A6C34878D82A}">
                    <a16:rowId xmlns:a16="http://schemas.microsoft.com/office/drawing/2014/main" val="895614950"/>
                  </a:ext>
                </a:extLst>
              </a:tr>
              <a:tr h="352019">
                <a:tc>
                  <a:txBody>
                    <a:bodyPr/>
                    <a:lstStyle/>
                    <a:p>
                      <a:pPr>
                        <a:buNone/>
                      </a:pPr>
                      <a:r>
                        <a:rPr lang="en-US" sz="1000"/>
                        <a:t>📊 Monitor Continuously</a:t>
                      </a:r>
                    </a:p>
                  </a:txBody>
                  <a:tcPr marL="50288" marR="50288" marT="25144" marB="25144" anchor="ctr">
                    <a:lnL>
                      <a:noFill/>
                    </a:lnL>
                    <a:lnR>
                      <a:noFill/>
                    </a:lnR>
                    <a:lnT>
                      <a:noFill/>
                    </a:lnT>
                    <a:lnB>
                      <a:noFill/>
                    </a:lnB>
                    <a:noFill/>
                  </a:tcPr>
                </a:tc>
                <a:tc>
                  <a:txBody>
                    <a:bodyPr/>
                    <a:lstStyle/>
                    <a:p>
                      <a:pPr>
                        <a:buNone/>
                      </a:pPr>
                      <a:r>
                        <a:rPr lang="en-US" sz="1000"/>
                        <a:t>Real-Time Insights</a:t>
                      </a:r>
                    </a:p>
                  </a:txBody>
                  <a:tcPr marL="50288" marR="50288" marT="25144" marB="25144" anchor="ctr">
                    <a:lnL>
                      <a:noFill/>
                    </a:lnL>
                    <a:lnR>
                      <a:noFill/>
                    </a:lnR>
                    <a:lnT>
                      <a:noFill/>
                    </a:lnT>
                    <a:lnB>
                      <a:noFill/>
                    </a:lnB>
                    <a:noFill/>
                  </a:tcPr>
                </a:tc>
                <a:tc>
                  <a:txBody>
                    <a:bodyPr/>
                    <a:lstStyle/>
                    <a:p>
                      <a:pPr>
                        <a:buNone/>
                      </a:pPr>
                      <a:r>
                        <a:rPr lang="en-US" sz="1000"/>
                        <a:t>Track SLA, ratings, sentiment alerts</a:t>
                      </a:r>
                    </a:p>
                  </a:txBody>
                  <a:tcPr marL="50288" marR="50288" marT="25144" marB="25144" anchor="ctr">
                    <a:lnL>
                      <a:noFill/>
                    </a:lnL>
                    <a:lnR>
                      <a:noFill/>
                    </a:lnR>
                    <a:lnT>
                      <a:noFill/>
                    </a:lnT>
                    <a:lnB>
                      <a:noFill/>
                    </a:lnB>
                    <a:noFill/>
                  </a:tcPr>
                </a:tc>
                <a:tc>
                  <a:txBody>
                    <a:bodyPr/>
                    <a:lstStyle/>
                    <a:p>
                      <a:pPr>
                        <a:buNone/>
                      </a:pPr>
                      <a:r>
                        <a:rPr lang="en-US" sz="1000"/>
                        <a:t>Prevent future service breakdowns</a:t>
                      </a:r>
                    </a:p>
                  </a:txBody>
                  <a:tcPr marL="50288" marR="50288" marT="25144" marB="25144" anchor="ctr">
                    <a:lnL>
                      <a:noFill/>
                    </a:lnL>
                    <a:lnR>
                      <a:noFill/>
                    </a:lnR>
                    <a:lnT>
                      <a:noFill/>
                    </a:lnT>
                    <a:lnB>
                      <a:noFill/>
                    </a:lnB>
                    <a:noFill/>
                  </a:tcPr>
                </a:tc>
                <a:extLst>
                  <a:ext uri="{0D108BD9-81ED-4DB2-BD59-A6C34878D82A}">
                    <a16:rowId xmlns:a16="http://schemas.microsoft.com/office/drawing/2014/main" val="1837323421"/>
                  </a:ext>
                </a:extLst>
              </a:tr>
              <a:tr h="502885">
                <a:tc>
                  <a:txBody>
                    <a:bodyPr/>
                    <a:lstStyle/>
                    <a:p>
                      <a:pPr>
                        <a:buNone/>
                      </a:pPr>
                      <a:r>
                        <a:rPr lang="en-US" sz="1000"/>
                        <a:t>🍱 Improve Value</a:t>
                      </a:r>
                    </a:p>
                  </a:txBody>
                  <a:tcPr marL="50288" marR="50288" marT="25144" marB="25144" anchor="ctr">
                    <a:lnL>
                      <a:noFill/>
                    </a:lnL>
                    <a:lnR>
                      <a:noFill/>
                    </a:lnR>
                    <a:lnT>
                      <a:noFill/>
                    </a:lnT>
                    <a:lnB>
                      <a:noFill/>
                    </a:lnB>
                    <a:noFill/>
                  </a:tcPr>
                </a:tc>
                <a:tc>
                  <a:txBody>
                    <a:bodyPr/>
                    <a:lstStyle/>
                    <a:p>
                      <a:pPr>
                        <a:buNone/>
                      </a:pPr>
                      <a:r>
                        <a:rPr lang="en-US" sz="1000"/>
                        <a:t>Pricing &amp; Offers</a:t>
                      </a:r>
                    </a:p>
                  </a:txBody>
                  <a:tcPr marL="50288" marR="50288" marT="25144" marB="25144" anchor="ctr">
                    <a:lnL>
                      <a:noFill/>
                    </a:lnL>
                    <a:lnR>
                      <a:noFill/>
                    </a:lnR>
                    <a:lnT>
                      <a:noFill/>
                    </a:lnT>
                    <a:lnB>
                      <a:noFill/>
                    </a:lnB>
                    <a:noFill/>
                  </a:tcPr>
                </a:tc>
                <a:tc>
                  <a:txBody>
                    <a:bodyPr/>
                    <a:lstStyle/>
                    <a:p>
                      <a:pPr>
                        <a:buNone/>
                      </a:pPr>
                      <a:r>
                        <a:rPr lang="en-US" sz="1000"/>
                        <a:t>Combos, subscriptions, loyalty programs</a:t>
                      </a:r>
                    </a:p>
                  </a:txBody>
                  <a:tcPr marL="50288" marR="50288" marT="25144" marB="25144" anchor="ctr">
                    <a:lnL>
                      <a:noFill/>
                    </a:lnL>
                    <a:lnR>
                      <a:noFill/>
                    </a:lnR>
                    <a:lnT>
                      <a:noFill/>
                    </a:lnT>
                    <a:lnB>
                      <a:noFill/>
                    </a:lnB>
                    <a:noFill/>
                  </a:tcPr>
                </a:tc>
                <a:tc>
                  <a:txBody>
                    <a:bodyPr/>
                    <a:lstStyle/>
                    <a:p>
                      <a:pPr>
                        <a:buNone/>
                      </a:pPr>
                      <a:r>
                        <a:rPr lang="en-US" sz="1000" dirty="0"/>
                        <a:t>Increase order value &amp; retention</a:t>
                      </a:r>
                    </a:p>
                  </a:txBody>
                  <a:tcPr marL="50288" marR="50288" marT="25144" marB="25144" anchor="ctr">
                    <a:lnL>
                      <a:noFill/>
                    </a:lnL>
                    <a:lnR>
                      <a:noFill/>
                    </a:lnR>
                    <a:lnT>
                      <a:noFill/>
                    </a:lnT>
                    <a:lnB>
                      <a:noFill/>
                    </a:lnB>
                    <a:noFill/>
                  </a:tcPr>
                </a:tc>
                <a:extLst>
                  <a:ext uri="{0D108BD9-81ED-4DB2-BD59-A6C34878D82A}">
                    <a16:rowId xmlns:a16="http://schemas.microsoft.com/office/drawing/2014/main" val="1097768069"/>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419</TotalTime>
  <Words>1234</Words>
  <Application>Microsoft Office PowerPoint</Application>
  <PresentationFormat>On-screen Show (4:3)</PresentationFormat>
  <Paragraphs>135</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QuickBite Express – Crisis Recovery Analysis</vt:lpstr>
      <vt:lpstr>Agenda</vt:lpstr>
      <vt:lpstr>Company Overview</vt:lpstr>
      <vt:lpstr>Problem Statement</vt:lpstr>
      <vt:lpstr>Objectives</vt:lpstr>
      <vt:lpstr>Data Overview</vt:lpstr>
      <vt:lpstr>Analytical Approach</vt:lpstr>
      <vt:lpstr>Primary Insights – Key Highlights</vt:lpstr>
      <vt:lpstr>Compare total orders across pre-crisis (Jan–May 2025) vs crisis (Jun–Sep 2025). How severe is the decline?</vt:lpstr>
      <vt:lpstr>Which top 5 city groups experienced the highest percentage decline in orders during the crisis period compared to the pre-crisis period?</vt:lpstr>
      <vt:lpstr>Among restaurants with at least 50 pre-crisis orders, which top 10 high-volume restaurants experienced the largest percentage decline in order counts during the crisis period?</vt:lpstr>
      <vt:lpstr>Cancellation Analysis: What is the cancellation rate trend pre-crisis vs crisis, and which cities are most affected? </vt:lpstr>
      <vt:lpstr>Delivery SLA: Measure average delivery time across phases. Did SLA compliance worsen significantly in the crisis period?</vt:lpstr>
      <vt:lpstr>Among customers who placed five or more orders before the crisis, determine how many stopped ordering during the crisis, and out of those, how many had an average rating above 4.5?</vt:lpstr>
      <vt:lpstr>Revenue Impact: Estimate revenue loss from pre-crisis vs crisis (based on subtotal, discount, and delivery fee).</vt:lpstr>
      <vt:lpstr>Ratings Fluctuation: Track average customer rating month-by-month. Which months saw the sharpest drop?</vt:lpstr>
      <vt:lpstr>Which high-value customers (top 5% by total spend before the crisis) showed the largest drop in order frequency and ratings during the crisis? What common patterns (e.g., location, cuisine preference, delivery delays) do they share?</vt:lpstr>
      <vt:lpstr>Key Takeaways</vt:lpstr>
      <vt:lpstr>Crisis Recovery Strategy – Action Plan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Sun Moon</cp:lastModifiedBy>
  <cp:revision>4</cp:revision>
  <dcterms:created xsi:type="dcterms:W3CDTF">2013-01-27T09:14:16Z</dcterms:created>
  <dcterms:modified xsi:type="dcterms:W3CDTF">2026-04-01T13:45:52Z</dcterms:modified>
  <cp:category/>
</cp:coreProperties>
</file>